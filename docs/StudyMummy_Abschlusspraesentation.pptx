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2" r:id="rId10"/>
    <p:sldId id="264" r:id="rId11"/>
    <p:sldId id="263" r:id="rId12"/>
    <p:sldId id="265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B09F4-10F8-8E8F-6C72-03B3025D4701}" v="6" dt="2026-07-06T21:49:09.947"/>
    <p1510:client id="{1F2B84B6-9F30-4C87-8A28-A6DF1AA9EA10}" v="1" dt="2026-07-06T09:06:54.465"/>
    <p1510:client id="{21841B1D-4352-41CE-2C95-5E9BF885C2FE}" v="120" dt="2026-07-06T16:34:43.754"/>
    <p1510:client id="{3193E7AB-47F1-B108-20D7-C0694E383E4E}" v="194" dt="2026-07-06T09:39:58.972"/>
    <p1510:client id="{36E68EF4-9612-A755-3AF3-70DA1B782337}" v="120" dt="2026-07-06T20:39:32.029"/>
    <p1510:client id="{42EE35DB-D916-155C-E066-224E8FA37EF7}" v="4" dt="2026-07-07T11:12:45.015"/>
    <p1510:client id="{901F773F-0748-9E76-7CF1-439B0F1E8EF9}" v="6" dt="2026-07-07T07:09:52.304"/>
    <p1510:client id="{A001EB5E-4C8B-0B76-B1E8-66CEB46A5D66}" v="21" dt="2026-07-06T14:48:06.684"/>
    <p1510:client id="{A5A227E4-AB43-82D2-C69E-F405DFFC47D6}" v="1" dt="2026-07-07T08:18:26.805"/>
    <p1510:client id="{B9C7FBEB-D337-28CB-173E-2DB4C2E3DC2A}" v="321" dt="2026-07-06T20:05:10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>
              <a:solidFill>
                <a:srgbClr val="000000"/>
              </a:solidFill>
            </a:endParaRP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2EFE083-D17D-4DF0-A607-F2CD55E7784C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8096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450" b="1">
                <a:solidFill>
                  <a:srgbClr val="0B0B0B"/>
                </a:solidFill>
              </a:defRPr>
            </a:pPr>
            <a:r>
              <a:rPr sz="6450" b="1">
                <a:solidFill>
                  <a:srgbClr val="0B0B0B"/>
                </a:solidFill>
              </a:rPr>
              <a:t>StudyMummy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6E9AD2-138B-491A-95F3-29EF39AE23C3}"/>
              </a:ext>
            </a:extLst>
          </p:cNvPr>
          <p:cNvSpPr>
            <a:spLocks noGrp="1"/>
          </p:cNvSpPr>
          <p:nvPr/>
        </p:nvSpPr>
        <p:spPr>
          <a:xfrm>
            <a:off x="428625" y="2914650"/>
            <a:ext cx="590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250">
                <a:solidFill>
                  <a:srgbClr val="545454"/>
                </a:solidFill>
              </a:defRPr>
            </a:pPr>
            <a:r>
              <a:rPr sz="2250">
                <a:solidFill>
                  <a:srgbClr val="545454"/>
                </a:solidFill>
              </a:rPr>
              <a:t>Agentic AI Learning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0D2752-AAAF-42F5-9D3D-95146C190947}"/>
              </a:ext>
            </a:extLst>
          </p:cNvPr>
          <p:cNvSpPr>
            <a:spLocks noGrp="1"/>
          </p:cNvSpPr>
          <p:nvPr/>
        </p:nvSpPr>
        <p:spPr>
          <a:xfrm>
            <a:off x="428625" y="53340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75">
                <a:solidFill>
                  <a:srgbClr val="545454"/>
                </a:solidFill>
              </a:defRPr>
            </a:pPr>
            <a:endParaRPr lang="en-US" sz="1550">
              <a:solidFill>
                <a:srgbClr val="545454"/>
              </a:solidFill>
            </a:endParaRPr>
          </a:p>
        </p:txBody>
      </p:sp>
      <p:sp>
        <p:nvSpPr>
          <p:cNvPr id="4" name="hero-panel">
            <a:extLst>
              <a:ext uri="{FF2B5EF4-FFF2-40B4-BE49-F238E27FC236}">
                <a16:creationId xmlns:a16="http://schemas.microsoft.com/office/drawing/2014/main" id="{C79EB989-33A6-41C0-B429-FECC291924F6}"/>
              </a:ext>
            </a:extLst>
          </p:cNvPr>
          <p:cNvSpPr>
            <a:spLocks noGrp="1"/>
          </p:cNvSpPr>
          <p:nvPr/>
        </p:nvSpPr>
        <p:spPr>
          <a:xfrm>
            <a:off x="8229600" y="914400"/>
            <a:ext cx="3562350" cy="48768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C0F00-48EC-44BE-A39D-18FA3827F4DB}"/>
              </a:ext>
            </a:extLst>
          </p:cNvPr>
          <p:cNvSpPr>
            <a:spLocks noGrp="1"/>
          </p:cNvSpPr>
          <p:nvPr/>
        </p:nvSpPr>
        <p:spPr>
          <a:xfrm>
            <a:off x="8572500" y="1504950"/>
            <a:ext cx="28575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600" b="1">
                <a:solidFill>
                  <a:srgbClr val="0B0B0B"/>
                </a:solidFill>
              </a:defRPr>
            </a:pPr>
            <a:r>
              <a:rPr sz="3600" b="1">
                <a:solidFill>
                  <a:srgbClr val="0B0B0B"/>
                </a:solidFill>
              </a:rPr>
              <a:t>Upload</a:t>
            </a:r>
          </a:p>
          <a:p>
            <a:pPr>
              <a:defRPr sz="3600" b="1">
                <a:solidFill>
                  <a:srgbClr val="0B0B0B"/>
                </a:solidFill>
              </a:defRPr>
            </a:pPr>
            <a:r>
              <a:rPr sz="3600" b="1">
                <a:solidFill>
                  <a:srgbClr val="0B0B0B"/>
                </a:solidFill>
              </a:rPr>
              <a:t>Tutor</a:t>
            </a:r>
          </a:p>
          <a:p>
            <a:pPr>
              <a:defRPr sz="3600" b="1">
                <a:solidFill>
                  <a:srgbClr val="0B0B0B"/>
                </a:solidFill>
              </a:defRPr>
            </a:pPr>
            <a:r>
              <a:rPr sz="3600" b="1">
                <a:solidFill>
                  <a:srgbClr val="0B0B0B"/>
                </a:solidFill>
              </a:rPr>
              <a:t>Quiz</a:t>
            </a:r>
          </a:p>
          <a:p>
            <a:pPr>
              <a:defRPr sz="3600" b="1">
                <a:solidFill>
                  <a:srgbClr val="0B0B0B"/>
                </a:solidFill>
              </a:defRPr>
            </a:pPr>
            <a:r>
              <a:rPr sz="3600" b="1">
                <a:solidFill>
                  <a:srgbClr val="0B0B0B"/>
                </a:solidFill>
              </a:rPr>
              <a:t>Cheatsheet</a:t>
            </a:r>
          </a:p>
        </p:txBody>
      </p:sp>
      <p:sp>
        <p:nvSpPr>
          <p:cNvPr id="6" name="accent">
            <a:extLst>
              <a:ext uri="{FF2B5EF4-FFF2-40B4-BE49-F238E27FC236}">
                <a16:creationId xmlns:a16="http://schemas.microsoft.com/office/drawing/2014/main" id="{AAAC1EB0-A473-47B6-B6DD-7E6802596ECD}"/>
              </a:ext>
            </a:extLst>
          </p:cNvPr>
          <p:cNvSpPr>
            <a:spLocks noGrp="1"/>
          </p:cNvSpPr>
          <p:nvPr/>
        </p:nvSpPr>
        <p:spPr>
          <a:xfrm>
            <a:off x="8572500" y="4819650"/>
            <a:ext cx="1200150" cy="85725"/>
          </a:xfrm>
          <a:prstGeom prst="rect">
            <a:avLst/>
          </a:prstGeom>
          <a:solidFill>
            <a:srgbClr val="FF6B35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15599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96C3C0E-65E3-433A-A9E6-B57D9EA2E973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3150" b="1">
                <a:solidFill>
                  <a:srgbClr val="0B0B0B"/>
                </a:solidFill>
              </a:defRPr>
            </a:pPr>
            <a:r>
              <a:rPr lang="en-US" sz="3150" b="1">
                <a:solidFill>
                  <a:srgbClr val="0B0B0B"/>
                </a:solidFill>
              </a:rPr>
              <a:t>Agenda</a:t>
            </a:r>
            <a:endParaRPr lang="en-US"/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A50D5F5E-E4E9-4AFE-8B74-C307C3359B01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1B06E-D4BF-48E6-8ACE-7E885A41BDAC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45454"/>
                </a:solidFill>
              </a:defRPr>
            </a:pPr>
            <a:r>
              <a:rPr sz="1125">
                <a:solidFill>
                  <a:srgbClr val="545454"/>
                </a:solidFill>
              </a:rPr>
              <a:t>02</a:t>
            </a:r>
          </a:p>
        </p:txBody>
      </p:sp>
      <p:sp>
        <p:nvSpPr>
          <p:cNvPr id="4" name="bullet">
            <a:extLst>
              <a:ext uri="{FF2B5EF4-FFF2-40B4-BE49-F238E27FC236}">
                <a16:creationId xmlns:a16="http://schemas.microsoft.com/office/drawing/2014/main" id="{8CE57DAD-536A-4ECE-9476-977ECBE674AB}"/>
              </a:ext>
            </a:extLst>
          </p:cNvPr>
          <p:cNvSpPr>
            <a:spLocks noGrp="1"/>
          </p:cNvSpPr>
          <p:nvPr/>
        </p:nvSpPr>
        <p:spPr>
          <a:xfrm>
            <a:off x="762000" y="15621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878D0F-8680-4A7F-9A80-03525745F918}"/>
              </a:ext>
            </a:extLst>
          </p:cNvPr>
          <p:cNvSpPr>
            <a:spLocks noGrp="1"/>
          </p:cNvSpPr>
          <p:nvPr/>
        </p:nvSpPr>
        <p:spPr>
          <a:xfrm>
            <a:off x="990600" y="1466850"/>
            <a:ext cx="8439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50">
                <a:solidFill>
                  <a:srgbClr val="0B0B0B"/>
                </a:solidFill>
              </a:rPr>
              <a:t>1  Was </a:t>
            </a:r>
            <a:r>
              <a:rPr sz="1850" err="1">
                <a:solidFill>
                  <a:srgbClr val="0B0B0B"/>
                </a:solidFill>
              </a:rPr>
              <a:t>ist</a:t>
            </a:r>
            <a:r>
              <a:rPr sz="1850">
                <a:solidFill>
                  <a:srgbClr val="0B0B0B"/>
                </a:solidFill>
              </a:rPr>
              <a:t> </a:t>
            </a:r>
            <a:r>
              <a:rPr sz="1850" err="1">
                <a:solidFill>
                  <a:srgbClr val="0B0B0B"/>
                </a:solidFill>
              </a:rPr>
              <a:t>unser</a:t>
            </a:r>
            <a:r>
              <a:rPr sz="1850">
                <a:solidFill>
                  <a:srgbClr val="0B0B0B"/>
                </a:solidFill>
              </a:rPr>
              <a:t> Agent? </a:t>
            </a:r>
            <a:endParaRPr sz="1875">
              <a:solidFill>
                <a:srgbClr val="0B0B0B"/>
              </a:solidFill>
            </a:endParaRPr>
          </a:p>
        </p:txBody>
      </p:sp>
      <p:sp>
        <p:nvSpPr>
          <p:cNvPr id="6" name="bullet">
            <a:extLst>
              <a:ext uri="{FF2B5EF4-FFF2-40B4-BE49-F238E27FC236}">
                <a16:creationId xmlns:a16="http://schemas.microsoft.com/office/drawing/2014/main" id="{AF28A4DC-2F2D-4523-9B76-953089D68F6B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310ED-D964-46E0-A289-831D484C56EC}"/>
              </a:ext>
            </a:extLst>
          </p:cNvPr>
          <p:cNvSpPr>
            <a:spLocks noGrp="1"/>
          </p:cNvSpPr>
          <p:nvPr/>
        </p:nvSpPr>
        <p:spPr>
          <a:xfrm>
            <a:off x="990600" y="2152650"/>
            <a:ext cx="8439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75">
                <a:solidFill>
                  <a:srgbClr val="0B0B0B"/>
                </a:solidFill>
              </a:rPr>
              <a:t>2  Architektur: Frontend, Backend, Datenbank, LLM und kognitive Schichten</a:t>
            </a:r>
          </a:p>
        </p:txBody>
      </p:sp>
      <p:sp>
        <p:nvSpPr>
          <p:cNvPr id="8" name="bullet">
            <a:extLst>
              <a:ext uri="{FF2B5EF4-FFF2-40B4-BE49-F238E27FC236}">
                <a16:creationId xmlns:a16="http://schemas.microsoft.com/office/drawing/2014/main" id="{C868880C-EADB-409E-9B14-4FA15685C433}"/>
              </a:ext>
            </a:extLst>
          </p:cNvPr>
          <p:cNvSpPr>
            <a:spLocks noGrp="1"/>
          </p:cNvSpPr>
          <p:nvPr/>
        </p:nvSpPr>
        <p:spPr>
          <a:xfrm>
            <a:off x="762000" y="29337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6D6DD1-6D1F-49AF-AC12-DEC36A43676E}"/>
              </a:ext>
            </a:extLst>
          </p:cNvPr>
          <p:cNvSpPr>
            <a:spLocks noGrp="1"/>
          </p:cNvSpPr>
          <p:nvPr/>
        </p:nvSpPr>
        <p:spPr>
          <a:xfrm>
            <a:off x="990600" y="2838450"/>
            <a:ext cx="8439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lang="en-GB" sz="1850">
                <a:solidFill>
                  <a:srgbClr val="0B0B0B"/>
                </a:solidFill>
              </a:rPr>
              <a:t>3  </a:t>
            </a:r>
            <a:r>
              <a:rPr lang="en-GB" sz="1850" err="1">
                <a:solidFill>
                  <a:srgbClr val="0B0B0B"/>
                </a:solidFill>
              </a:rPr>
              <a:t>Technische</a:t>
            </a:r>
            <a:r>
              <a:rPr lang="en-GB" sz="1850">
                <a:solidFill>
                  <a:srgbClr val="0B0B0B"/>
                </a:solidFill>
              </a:rPr>
              <a:t> Highlights und </a:t>
            </a:r>
            <a:r>
              <a:rPr lang="en-GB" sz="1850" err="1">
                <a:solidFill>
                  <a:srgbClr val="0B0B0B"/>
                </a:solidFill>
              </a:rPr>
              <a:t>grösste</a:t>
            </a:r>
            <a:r>
              <a:rPr lang="en-GB" sz="1850">
                <a:solidFill>
                  <a:srgbClr val="0B0B0B"/>
                </a:solidFill>
              </a:rPr>
              <a:t> Herausforderungen</a:t>
            </a:r>
          </a:p>
        </p:txBody>
      </p:sp>
      <p:sp>
        <p:nvSpPr>
          <p:cNvPr id="10" name="bullet">
            <a:extLst>
              <a:ext uri="{FF2B5EF4-FFF2-40B4-BE49-F238E27FC236}">
                <a16:creationId xmlns:a16="http://schemas.microsoft.com/office/drawing/2014/main" id="{BAE36CE4-0FC3-4538-A810-BA85FC522BFF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A9E21A-A46F-4C19-8930-21F3698F3A5D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8439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75">
                <a:solidFill>
                  <a:srgbClr val="0B0B0B"/>
                </a:solidFill>
              </a:rPr>
              <a:t>4  Safety: Guardrails, Robustheit und Beobachtbarkeit</a:t>
            </a:r>
          </a:p>
        </p:txBody>
      </p:sp>
      <p:sp>
        <p:nvSpPr>
          <p:cNvPr id="12" name="bullet">
            <a:extLst>
              <a:ext uri="{FF2B5EF4-FFF2-40B4-BE49-F238E27FC236}">
                <a16:creationId xmlns:a16="http://schemas.microsoft.com/office/drawing/2014/main" id="{D2F3280B-5EA6-4873-B2F4-9B3483B7842C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A2D2FB-A00D-415D-B3C9-B09CADD35A7C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8439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50">
                <a:solidFill>
                  <a:srgbClr val="0B0B0B"/>
                </a:solidFill>
              </a:rPr>
              <a:t>5  Lessons Learned und was </a:t>
            </a:r>
            <a:r>
              <a:rPr sz="1850" err="1">
                <a:solidFill>
                  <a:srgbClr val="0B0B0B"/>
                </a:solidFill>
              </a:rPr>
              <a:t>wir</a:t>
            </a:r>
            <a:r>
              <a:rPr sz="1850">
                <a:solidFill>
                  <a:srgbClr val="0B0B0B"/>
                </a:solidFill>
              </a:rPr>
              <a:t> </a:t>
            </a:r>
            <a:r>
              <a:rPr lang="en-US" sz="1850" err="1">
                <a:solidFill>
                  <a:srgbClr val="0B0B0B"/>
                </a:solidFill>
              </a:rPr>
              <a:t>nächstes</a:t>
            </a:r>
            <a:r>
              <a:rPr sz="1850">
                <a:solidFill>
                  <a:srgbClr val="0B0B0B"/>
                </a:solidFill>
              </a:rPr>
              <a:t> Mal </a:t>
            </a:r>
            <a:r>
              <a:rPr sz="1850" err="1">
                <a:solidFill>
                  <a:srgbClr val="0B0B0B"/>
                </a:solidFill>
              </a:rPr>
              <a:t>anders</a:t>
            </a:r>
            <a:r>
              <a:rPr sz="1850">
                <a:solidFill>
                  <a:srgbClr val="0B0B0B"/>
                </a:solidFill>
              </a:rPr>
              <a:t> </a:t>
            </a:r>
            <a:r>
              <a:rPr sz="1850" err="1">
                <a:solidFill>
                  <a:srgbClr val="0B0B0B"/>
                </a:solidFill>
              </a:rPr>
              <a:t>machen</a:t>
            </a:r>
            <a:endParaRPr lang="en-US" sz="1850" err="1">
              <a:solidFill>
                <a:srgbClr val="0B0B0B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D4DE61-F08D-48A1-8541-1B0DD95515CE}"/>
              </a:ext>
            </a:extLst>
          </p:cNvPr>
          <p:cNvSpPr>
            <a:spLocks noGrp="1"/>
          </p:cNvSpPr>
          <p:nvPr/>
        </p:nvSpPr>
        <p:spPr>
          <a:xfrm>
            <a:off x="8229600" y="5162550"/>
            <a:ext cx="3048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>
                <a:solidFill>
                  <a:srgbClr val="545454"/>
                </a:solidFill>
              </a:defRPr>
            </a:pPr>
            <a:endParaRPr lang="en-US" sz="1800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27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7B88C9-88AD-4329-9120-92033C07B95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B0B0B"/>
                </a:solidFill>
              </a:defRPr>
            </a:pPr>
            <a:r>
              <a:rPr sz="3150" b="1">
                <a:solidFill>
                  <a:srgbClr val="0B0B0B"/>
                </a:solidFill>
              </a:rPr>
              <a:t>Was ist unser Agent?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A72F92E2-AEE5-41B0-AF5F-33356A4ADFF8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EE938B-A1BC-4B1D-A45E-69699F066806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45454"/>
                </a:solidFill>
              </a:defRPr>
            </a:pPr>
            <a:r>
              <a:rPr sz="1125">
                <a:solidFill>
                  <a:srgbClr val="545454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DC10D5-4867-4092-859F-25FC4F4DFEB2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7239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700" b="1">
                <a:solidFill>
                  <a:srgbClr val="0B0B0B"/>
                </a:solidFill>
              </a:defRPr>
            </a:pPr>
            <a:r>
              <a:rPr sz="2700" b="1" dirty="0">
                <a:solidFill>
                  <a:srgbClr val="0B0B0B"/>
                </a:solidFill>
              </a:rPr>
              <a:t>Ein </a:t>
            </a:r>
            <a:r>
              <a:rPr sz="2700" b="1" dirty="0" err="1">
                <a:solidFill>
                  <a:srgbClr val="0B0B0B"/>
                </a:solidFill>
              </a:rPr>
              <a:t>sokratischer</a:t>
            </a:r>
            <a:r>
              <a:rPr sz="2700" b="1" dirty="0">
                <a:solidFill>
                  <a:srgbClr val="0B0B0B"/>
                </a:solidFill>
              </a:rPr>
              <a:t> Learning Agent, der </a:t>
            </a:r>
            <a:r>
              <a:rPr sz="2700" b="1" dirty="0" err="1">
                <a:solidFill>
                  <a:srgbClr val="0B0B0B"/>
                </a:solidFill>
              </a:rPr>
              <a:t>Lernmaterial</a:t>
            </a:r>
            <a:r>
              <a:rPr sz="2700" b="1" dirty="0">
                <a:solidFill>
                  <a:srgbClr val="0B0B0B"/>
                </a:solidFill>
              </a:rPr>
              <a:t> in </a:t>
            </a:r>
            <a:r>
              <a:rPr sz="2700" b="1" dirty="0" err="1">
                <a:solidFill>
                  <a:srgbClr val="0B0B0B"/>
                </a:solidFill>
              </a:rPr>
              <a:t>Aufgaben</a:t>
            </a:r>
            <a:r>
              <a:rPr sz="2700" b="1" dirty="0">
                <a:solidFill>
                  <a:srgbClr val="0B0B0B"/>
                </a:solidFill>
              </a:rPr>
              <a:t>, Quiz und Feedback </a:t>
            </a:r>
            <a:r>
              <a:rPr lang="en-US" sz="2700" b="1" dirty="0" err="1">
                <a:solidFill>
                  <a:srgbClr val="0B0B0B"/>
                </a:solidFill>
              </a:rPr>
              <a:t>übersetzt</a:t>
            </a:r>
            <a:r>
              <a:rPr sz="2700" b="1" dirty="0">
                <a:solidFill>
                  <a:srgbClr val="0B0B0B"/>
                </a:solidFill>
              </a:rPr>
              <a:t>.</a:t>
            </a:r>
          </a:p>
        </p:txBody>
      </p:sp>
      <p:sp>
        <p:nvSpPr>
          <p:cNvPr id="5" name="left-panel">
            <a:extLst>
              <a:ext uri="{FF2B5EF4-FFF2-40B4-BE49-F238E27FC236}">
                <a16:creationId xmlns:a16="http://schemas.microsoft.com/office/drawing/2014/main" id="{72D996BE-5621-44AB-88C6-0C4EFC388EAF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3562350" cy="23622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6" name="mid-panel">
            <a:extLst>
              <a:ext uri="{FF2B5EF4-FFF2-40B4-BE49-F238E27FC236}">
                <a16:creationId xmlns:a16="http://schemas.microsoft.com/office/drawing/2014/main" id="{4D8CCF39-DC4A-45C8-8F0B-73B164922BC1}"/>
              </a:ext>
            </a:extLst>
          </p:cNvPr>
          <p:cNvSpPr>
            <a:spLocks noGrp="1"/>
          </p:cNvSpPr>
          <p:nvPr/>
        </p:nvSpPr>
        <p:spPr>
          <a:xfrm>
            <a:off x="4314825" y="2857500"/>
            <a:ext cx="3562350" cy="23622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7" name="right-panel">
            <a:extLst>
              <a:ext uri="{FF2B5EF4-FFF2-40B4-BE49-F238E27FC236}">
                <a16:creationId xmlns:a16="http://schemas.microsoft.com/office/drawing/2014/main" id="{65346DFA-5517-41FA-A8E9-B94E4A668C3B}"/>
              </a:ext>
            </a:extLst>
          </p:cNvPr>
          <p:cNvSpPr>
            <a:spLocks noGrp="1"/>
          </p:cNvSpPr>
          <p:nvPr/>
        </p:nvSpPr>
        <p:spPr>
          <a:xfrm>
            <a:off x="8229600" y="2857500"/>
            <a:ext cx="3562350" cy="236220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355783-991B-4016-856E-D4E6D842DF05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B0B0B"/>
                </a:solidFill>
              </a:defRPr>
            </a:pPr>
            <a:r>
              <a:rPr sz="2100" b="1">
                <a:solidFill>
                  <a:srgbClr val="0B0B0B"/>
                </a:solidFill>
              </a:rPr>
              <a:t>Perception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EC3846-0AB6-48E0-985C-05A0A06720CA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28384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545454"/>
                </a:solidFill>
              </a:defRPr>
            </a:pPr>
            <a:r>
              <a:rPr sz="1725">
                <a:solidFill>
                  <a:srgbClr val="545454"/>
                </a:solidFill>
              </a:rPr>
              <a:t>PDF/Text erkennen,</a:t>
            </a:r>
          </a:p>
          <a:p>
            <a:pPr>
              <a:defRPr sz="1725">
                <a:solidFill>
                  <a:srgbClr val="545454"/>
                </a:solidFill>
              </a:defRPr>
            </a:pPr>
            <a:r>
              <a:rPr sz="1725">
                <a:solidFill>
                  <a:srgbClr val="545454"/>
                </a:solidFill>
              </a:rPr>
              <a:t>Tags, Aufgaben und</a:t>
            </a:r>
          </a:p>
          <a:p>
            <a:pPr>
              <a:defRPr sz="1725">
                <a:solidFill>
                  <a:srgbClr val="545454"/>
                </a:solidFill>
              </a:defRPr>
            </a:pPr>
            <a:r>
              <a:rPr sz="1725">
                <a:solidFill>
                  <a:srgbClr val="545454"/>
                </a:solidFill>
              </a:rPr>
              <a:t>Konzepte extrahieren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AC737A-3961-476B-B39A-712909CEFF77}"/>
              </a:ext>
            </a:extLst>
          </p:cNvPr>
          <p:cNvSpPr>
            <a:spLocks noGrp="1"/>
          </p:cNvSpPr>
          <p:nvPr/>
        </p:nvSpPr>
        <p:spPr>
          <a:xfrm>
            <a:off x="4610100" y="3143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B0B0B"/>
                </a:solidFill>
              </a:defRPr>
            </a:pPr>
            <a:r>
              <a:rPr sz="2100" b="1">
                <a:solidFill>
                  <a:srgbClr val="0B0B0B"/>
                </a:solidFill>
              </a:rPr>
              <a:t>Planning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51D1B-8A82-48F9-8FB5-A86787FBDBE7}"/>
              </a:ext>
            </a:extLst>
          </p:cNvPr>
          <p:cNvSpPr>
            <a:spLocks noGrp="1"/>
          </p:cNvSpPr>
          <p:nvPr/>
        </p:nvSpPr>
        <p:spPr>
          <a:xfrm>
            <a:off x="4610100" y="3714750"/>
            <a:ext cx="2857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725">
                <a:solidFill>
                  <a:srgbClr val="545454"/>
                </a:solidFill>
              </a:defRPr>
            </a:pPr>
            <a:r>
              <a:rPr sz="1700" dirty="0" err="1">
                <a:solidFill>
                  <a:srgbClr val="545454"/>
                </a:solidFill>
              </a:rPr>
              <a:t>Hilfestufe</a:t>
            </a:r>
            <a:r>
              <a:rPr sz="1700" dirty="0">
                <a:solidFill>
                  <a:srgbClr val="545454"/>
                </a:solidFill>
              </a:rPr>
              <a:t> </a:t>
            </a:r>
            <a:r>
              <a:rPr lang="en-US" sz="1700" dirty="0">
                <a:solidFill>
                  <a:srgbClr val="545454"/>
                </a:solidFill>
              </a:rPr>
              <a:t>wählen</a:t>
            </a:r>
            <a:r>
              <a:rPr sz="1700" dirty="0">
                <a:solidFill>
                  <a:srgbClr val="545454"/>
                </a:solidFill>
              </a:rPr>
              <a:t>,</a:t>
            </a:r>
          </a:p>
          <a:p>
            <a:pPr>
              <a:defRPr sz="1725">
                <a:solidFill>
                  <a:srgbClr val="545454"/>
                </a:solidFill>
              </a:defRPr>
            </a:pPr>
            <a:r>
              <a:rPr sz="1700" dirty="0" err="1">
                <a:solidFill>
                  <a:srgbClr val="545454"/>
                </a:solidFill>
              </a:rPr>
              <a:t>ReAct</a:t>
            </a:r>
            <a:r>
              <a:rPr sz="1700" dirty="0">
                <a:solidFill>
                  <a:srgbClr val="545454"/>
                </a:solidFill>
              </a:rPr>
              <a:t>-Loop </a:t>
            </a:r>
            <a:r>
              <a:rPr lang="en-US" sz="1700" dirty="0" err="1">
                <a:solidFill>
                  <a:srgbClr val="545454"/>
                </a:solidFill>
              </a:rPr>
              <a:t>ausführen</a:t>
            </a:r>
            <a:r>
              <a:rPr sz="1700" dirty="0">
                <a:solidFill>
                  <a:srgbClr val="545454"/>
                </a:solidFill>
              </a:rPr>
              <a:t>,</a:t>
            </a:r>
          </a:p>
          <a:p>
            <a:pPr>
              <a:defRPr sz="1725">
                <a:solidFill>
                  <a:srgbClr val="545454"/>
                </a:solidFill>
              </a:defRPr>
            </a:pPr>
            <a:r>
              <a:rPr lang="en-US" sz="1700" dirty="0" err="1">
                <a:solidFill>
                  <a:srgbClr val="545454"/>
                </a:solidFill>
              </a:rPr>
              <a:t>nächste</a:t>
            </a:r>
            <a:r>
              <a:rPr sz="1700" dirty="0">
                <a:solidFill>
                  <a:srgbClr val="545454"/>
                </a:solidFill>
              </a:rPr>
              <a:t> Aktion </a:t>
            </a:r>
            <a:r>
              <a:rPr sz="1700" dirty="0" err="1">
                <a:solidFill>
                  <a:srgbClr val="545454"/>
                </a:solidFill>
              </a:rPr>
              <a:t>bestimmen</a:t>
            </a:r>
            <a:endParaRPr sz="1700" dirty="0">
              <a:solidFill>
                <a:srgbClr val="54545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8443CF-496D-4ECF-9BC8-D56B90DF7A08}"/>
              </a:ext>
            </a:extLst>
          </p:cNvPr>
          <p:cNvSpPr>
            <a:spLocks noGrp="1"/>
          </p:cNvSpPr>
          <p:nvPr/>
        </p:nvSpPr>
        <p:spPr>
          <a:xfrm>
            <a:off x="8524875" y="31432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B0B0B"/>
                </a:solidFill>
              </a:defRPr>
            </a:pPr>
            <a:r>
              <a:rPr sz="2100" b="1">
                <a:solidFill>
                  <a:srgbClr val="0B0B0B"/>
                </a:solidFill>
              </a:rPr>
              <a:t>Action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836F7-B29D-4F96-9A95-AEE2FEF44023}"/>
              </a:ext>
            </a:extLst>
          </p:cNvPr>
          <p:cNvSpPr>
            <a:spLocks noGrp="1"/>
          </p:cNvSpPr>
          <p:nvPr/>
        </p:nvSpPr>
        <p:spPr>
          <a:xfrm>
            <a:off x="8524875" y="3714750"/>
            <a:ext cx="2857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>
                <a:solidFill>
                  <a:srgbClr val="545454"/>
                </a:solidFill>
              </a:defRPr>
            </a:pPr>
            <a:r>
              <a:rPr sz="1725">
                <a:solidFill>
                  <a:srgbClr val="545454"/>
                </a:solidFill>
              </a:rPr>
              <a:t>Sokratische Fragen,</a:t>
            </a:r>
          </a:p>
          <a:p>
            <a:pPr>
              <a:defRPr sz="1725">
                <a:solidFill>
                  <a:srgbClr val="545454"/>
                </a:solidFill>
              </a:defRPr>
            </a:pPr>
            <a:r>
              <a:rPr sz="1725">
                <a:solidFill>
                  <a:srgbClr val="545454"/>
                </a:solidFill>
              </a:rPr>
              <a:t>Quiz, Cheatsheet,</a:t>
            </a:r>
          </a:p>
          <a:p>
            <a:pPr>
              <a:defRPr sz="1725">
                <a:solidFill>
                  <a:srgbClr val="545454"/>
                </a:solidFill>
              </a:defRPr>
            </a:pPr>
            <a:r>
              <a:rPr sz="1725">
                <a:solidFill>
                  <a:srgbClr val="545454"/>
                </a:solidFill>
              </a:rPr>
              <a:t>Coins/XP, Kalender</a:t>
            </a:r>
          </a:p>
        </p:txBody>
      </p:sp>
    </p:spTree>
    <p:extLst>
      <p:ext uri="{BB962C8B-B14F-4D97-AF65-F5344CB8AC3E}">
        <p14:creationId xmlns:p14="http://schemas.microsoft.com/office/powerpoint/2010/main" val="177949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CBD6EBB-5DEE-430B-B62C-219A3D4F617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3150" b="1">
                <a:solidFill>
                  <a:srgbClr val="0B0B0B"/>
                </a:solidFill>
              </a:defRPr>
            </a:pPr>
            <a:r>
              <a:rPr lang="en-US" sz="3150" b="1" dirty="0">
                <a:solidFill>
                  <a:srgbClr val="0B0B0B"/>
                </a:solidFill>
              </a:rPr>
              <a:t>Tech-stack / </a:t>
            </a:r>
            <a:r>
              <a:rPr lang="en-US" sz="3150" b="1" dirty="0" err="1">
                <a:solidFill>
                  <a:srgbClr val="0B0B0B"/>
                </a:solidFill>
              </a:rPr>
              <a:t>Architektur</a:t>
            </a:r>
            <a:r>
              <a:rPr sz="3150" b="1" dirty="0">
                <a:solidFill>
                  <a:srgbClr val="0B0B0B"/>
                </a:solidFill>
              </a:rPr>
              <a:t> in main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F7D71CA5-39FD-45C4-B901-00DC3E27D541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AF54D-D941-4186-A605-54D165FFA912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45454"/>
                </a:solidFill>
              </a:defRPr>
            </a:pPr>
            <a:r>
              <a:rPr sz="1125">
                <a:solidFill>
                  <a:srgbClr val="545454"/>
                </a:solidFill>
              </a:rPr>
              <a:t>04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6F70D85-943A-51C7-154C-FB87ABAC6C95}"/>
              </a:ext>
            </a:extLst>
          </p:cNvPr>
          <p:cNvGrpSpPr/>
          <p:nvPr/>
        </p:nvGrpSpPr>
        <p:grpSpPr>
          <a:xfrm>
            <a:off x="4311651" y="1452336"/>
            <a:ext cx="3562350" cy="1638300"/>
            <a:chOff x="400050" y="1619250"/>
            <a:chExt cx="3562350" cy="1638300"/>
          </a:xfrm>
        </p:grpSpPr>
        <p:sp>
          <p:nvSpPr>
            <p:cNvPr id="4" name="Angular Frontend">
              <a:extLst>
                <a:ext uri="{FF2B5EF4-FFF2-40B4-BE49-F238E27FC236}">
                  <a16:creationId xmlns:a16="http://schemas.microsoft.com/office/drawing/2014/main" id="{7213F2F7-6349-49CB-BE91-C7DDBF8CE313}"/>
                </a:ext>
              </a:extLst>
            </p:cNvPr>
            <p:cNvSpPr>
              <a:spLocks noGrp="1"/>
            </p:cNvSpPr>
            <p:nvPr/>
          </p:nvSpPr>
          <p:spPr>
            <a:xfrm>
              <a:off x="400050" y="1619250"/>
              <a:ext cx="3562350" cy="16383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8BCC4"/>
              </a:solidFill>
              <a:prstDash val="solid"/>
            </a:ln>
          </p:spPr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F5BB788-B77C-47ED-A89C-88EA16A19E59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1866900"/>
              <a:ext cx="29527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950" b="1">
                  <a:solidFill>
                    <a:srgbClr val="0B0B0B"/>
                  </a:solidFill>
                </a:defRPr>
              </a:pPr>
              <a:r>
                <a:rPr sz="1950" b="1">
                  <a:solidFill>
                    <a:srgbClr val="0B0B0B"/>
                  </a:solidFill>
                </a:rPr>
                <a:t>Angular Frontend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410B459-9CDF-462C-BD43-68FB0CB45698}"/>
                </a:ext>
              </a:extLst>
            </p:cNvPr>
            <p:cNvSpPr>
              <a:spLocks noGrp="1"/>
            </p:cNvSpPr>
            <p:nvPr/>
          </p:nvSpPr>
          <p:spPr>
            <a:xfrm>
              <a:off x="647700" y="2362200"/>
              <a:ext cx="3028950" cy="742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91440" tIns="45720" rIns="91440" bIns="45720" anchor="t"/>
            <a:lstStyle/>
            <a:p>
              <a:pPr>
                <a:defRPr sz="1500">
                  <a:solidFill>
                    <a:srgbClr val="545454"/>
                  </a:solidFill>
                </a:defRPr>
              </a:pPr>
              <a:r>
                <a:rPr lang="en-US" err="1"/>
                <a:t>TailwindCSS</a:t>
              </a:r>
              <a:r>
                <a:rPr lang="en-US"/>
                <a:t>, </a:t>
              </a:r>
              <a:r>
                <a:rPr lang="en-US" err="1"/>
                <a:t>PrimeNG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409B482-CBBD-67FA-808C-70C9FCCF7249}"/>
              </a:ext>
            </a:extLst>
          </p:cNvPr>
          <p:cNvGrpSpPr/>
          <p:nvPr/>
        </p:nvGrpSpPr>
        <p:grpSpPr>
          <a:xfrm>
            <a:off x="410482" y="1452336"/>
            <a:ext cx="3562350" cy="1638300"/>
            <a:chOff x="4314825" y="1619250"/>
            <a:chExt cx="3562350" cy="1638300"/>
          </a:xfrm>
        </p:grpSpPr>
        <p:sp>
          <p:nvSpPr>
            <p:cNvPr id="7" name="FastAPI Backend">
              <a:extLst>
                <a:ext uri="{FF2B5EF4-FFF2-40B4-BE49-F238E27FC236}">
                  <a16:creationId xmlns:a16="http://schemas.microsoft.com/office/drawing/2014/main" id="{76C4A385-AAFD-4A78-8F6F-60CC3624ADEC}"/>
                </a:ext>
              </a:extLst>
            </p:cNvPr>
            <p:cNvSpPr>
              <a:spLocks noGrp="1"/>
            </p:cNvSpPr>
            <p:nvPr/>
          </p:nvSpPr>
          <p:spPr>
            <a:xfrm>
              <a:off x="4314825" y="1619250"/>
              <a:ext cx="3562350" cy="1638300"/>
            </a:xfrm>
            <a:prstGeom prst="rect">
              <a:avLst/>
            </a:prstGeom>
            <a:solidFill>
              <a:srgbClr val="EDEDED"/>
            </a:solidFill>
            <a:ln w="9525">
              <a:solidFill>
                <a:srgbClr val="B8BCC4"/>
              </a:solidFill>
              <a:prstDash val="solid"/>
            </a:ln>
          </p:spPr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FE0E40-58B9-4581-9533-D3E7E5F017B8}"/>
                </a:ext>
              </a:extLst>
            </p:cNvPr>
            <p:cNvSpPr>
              <a:spLocks noGrp="1"/>
            </p:cNvSpPr>
            <p:nvPr/>
          </p:nvSpPr>
          <p:spPr>
            <a:xfrm>
              <a:off x="4562475" y="1866900"/>
              <a:ext cx="29527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91440" tIns="45720" rIns="91440" bIns="45720" anchor="t"/>
            <a:lstStyle/>
            <a:p>
              <a:pPr>
                <a:defRPr sz="1950" b="1">
                  <a:solidFill>
                    <a:srgbClr val="0B0B0B"/>
                  </a:solidFill>
                </a:defRPr>
              </a:pPr>
              <a:r>
                <a:rPr lang="en-US" sz="1950" b="1">
                  <a:solidFill>
                    <a:srgbClr val="0B0B0B"/>
                  </a:solidFill>
                </a:rPr>
                <a:t>Python Backend</a:t>
              </a:r>
              <a:endParaRPr sz="1950" b="1">
                <a:solidFill>
                  <a:srgbClr val="0B0B0B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568C7E-09CA-4465-A938-BF73C697A308}"/>
                </a:ext>
              </a:extLst>
            </p:cNvPr>
            <p:cNvSpPr>
              <a:spLocks noGrp="1"/>
            </p:cNvSpPr>
            <p:nvPr/>
          </p:nvSpPr>
          <p:spPr>
            <a:xfrm>
              <a:off x="4562475" y="2362200"/>
              <a:ext cx="3028950" cy="742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91440" tIns="45720" rIns="91440" bIns="45720" anchor="t"/>
            <a:lstStyle/>
            <a:p>
              <a:pPr>
                <a:defRPr sz="1500">
                  <a:solidFill>
                    <a:srgbClr val="545454"/>
                  </a:solidFill>
                </a:defRPr>
              </a:pPr>
              <a:r>
                <a:rPr lang="en-US" err="1"/>
                <a:t>FastAPI</a:t>
              </a:r>
              <a:r>
                <a:rPr lang="en-US"/>
                <a:t>, </a:t>
              </a:r>
              <a:r>
                <a:rPr lang="en-US" err="1"/>
                <a:t>SQLAlchemy</a:t>
              </a:r>
              <a:r>
                <a:rPr lang="en-US"/>
                <a:t>, </a:t>
              </a:r>
              <a:r>
                <a:rPr lang="en-US" err="1"/>
                <a:t>PyJWT</a:t>
              </a:r>
              <a:r>
                <a:rPr lang="en-US"/>
                <a:t>, </a:t>
              </a:r>
              <a:r>
                <a:rPr lang="en-US" err="1"/>
                <a:t>pymupdf</a:t>
              </a:r>
              <a:r>
                <a:rPr lang="en-US"/>
                <a:t>, tesseract, </a:t>
              </a:r>
              <a:r>
                <a:rPr lang="en-US" err="1"/>
                <a:t>pytest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A285E42-2534-5EFE-317A-EFF9B763A358}"/>
              </a:ext>
            </a:extLst>
          </p:cNvPr>
          <p:cNvGrpSpPr/>
          <p:nvPr/>
        </p:nvGrpSpPr>
        <p:grpSpPr>
          <a:xfrm>
            <a:off x="8236857" y="1452336"/>
            <a:ext cx="3562350" cy="1638300"/>
            <a:chOff x="8229600" y="1619250"/>
            <a:chExt cx="3562350" cy="1638300"/>
          </a:xfrm>
        </p:grpSpPr>
        <p:sp>
          <p:nvSpPr>
            <p:cNvPr id="10" name="PostgreSQL + pgvector">
              <a:extLst>
                <a:ext uri="{FF2B5EF4-FFF2-40B4-BE49-F238E27FC236}">
                  <a16:creationId xmlns:a16="http://schemas.microsoft.com/office/drawing/2014/main" id="{17037AA9-F9AD-4362-88A3-3E79DD817ABD}"/>
                </a:ext>
              </a:extLst>
            </p:cNvPr>
            <p:cNvSpPr>
              <a:spLocks noGrp="1"/>
            </p:cNvSpPr>
            <p:nvPr/>
          </p:nvSpPr>
          <p:spPr>
            <a:xfrm>
              <a:off x="8229600" y="1619250"/>
              <a:ext cx="3562350" cy="16383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8BCC4"/>
              </a:solidFill>
              <a:prstDash val="solid"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DE1DF7-D69C-4B78-A5AE-D19554E0C91C}"/>
                </a:ext>
              </a:extLst>
            </p:cNvPr>
            <p:cNvSpPr>
              <a:spLocks noGrp="1"/>
            </p:cNvSpPr>
            <p:nvPr/>
          </p:nvSpPr>
          <p:spPr>
            <a:xfrm>
              <a:off x="8477250" y="1866900"/>
              <a:ext cx="29527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950" b="1">
                  <a:solidFill>
                    <a:srgbClr val="0B0B0B"/>
                  </a:solidFill>
                </a:defRPr>
              </a:pPr>
              <a:r>
                <a:rPr sz="1950" b="1">
                  <a:solidFill>
                    <a:srgbClr val="0B0B0B"/>
                  </a:solidFill>
                </a:rPr>
                <a:t>PostgreSQL + pgvector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A117319-82DA-4B84-9262-3FCE10989D0F}"/>
                </a:ext>
              </a:extLst>
            </p:cNvPr>
            <p:cNvSpPr>
              <a:spLocks noGrp="1"/>
            </p:cNvSpPr>
            <p:nvPr/>
          </p:nvSpPr>
          <p:spPr>
            <a:xfrm>
              <a:off x="8477250" y="2362200"/>
              <a:ext cx="3028950" cy="742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91440" tIns="45720" rIns="91440" bIns="45720" anchor="t"/>
            <a:lstStyle/>
            <a:p>
              <a:pPr>
                <a:defRPr sz="1500">
                  <a:solidFill>
                    <a:srgbClr val="545454"/>
                  </a:solidFill>
                </a:defRPr>
              </a:pPr>
              <a:r>
                <a:rPr lang="en-US" sz="1500" err="1">
                  <a:solidFill>
                    <a:srgbClr val="545454"/>
                  </a:solidFill>
                </a:rPr>
                <a:t>DocumentChunks</a:t>
              </a:r>
              <a:r>
                <a:rPr lang="en-US" sz="1500">
                  <a:solidFill>
                    <a:srgbClr val="545454"/>
                  </a:solidFill>
                </a:rPr>
                <a:t>, Sessions, </a:t>
              </a:r>
              <a:r>
                <a:rPr lang="en-US" sz="1500" err="1">
                  <a:solidFill>
                    <a:srgbClr val="545454"/>
                  </a:solidFill>
                </a:rPr>
                <a:t>ChatLogs</a:t>
              </a:r>
              <a:endParaRPr lang="en-US" err="1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7CE52A-75D6-E252-AB4C-230B882F6C04}"/>
              </a:ext>
            </a:extLst>
          </p:cNvPr>
          <p:cNvGrpSpPr/>
          <p:nvPr/>
        </p:nvGrpSpPr>
        <p:grpSpPr>
          <a:xfrm>
            <a:off x="410029" y="3351894"/>
            <a:ext cx="3562350" cy="1638300"/>
            <a:chOff x="2362200" y="4476750"/>
            <a:chExt cx="3562350" cy="1638300"/>
          </a:xfrm>
        </p:grpSpPr>
        <p:sp>
          <p:nvSpPr>
            <p:cNvPr id="13" name="LLM Layer">
              <a:extLst>
                <a:ext uri="{FF2B5EF4-FFF2-40B4-BE49-F238E27FC236}">
                  <a16:creationId xmlns:a16="http://schemas.microsoft.com/office/drawing/2014/main" id="{ACB3CC7B-B5FE-4BFE-BB03-522FB5E1EEE0}"/>
                </a:ext>
              </a:extLst>
            </p:cNvPr>
            <p:cNvSpPr>
              <a:spLocks noGrp="1"/>
            </p:cNvSpPr>
            <p:nvPr/>
          </p:nvSpPr>
          <p:spPr>
            <a:xfrm>
              <a:off x="2362200" y="4476750"/>
              <a:ext cx="3562350" cy="16383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B8BCC4"/>
              </a:solidFill>
              <a:prstDash val="solid"/>
            </a:ln>
          </p:spPr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59AEA39-A69B-462A-9FD8-52CA0CF34ACE}"/>
                </a:ext>
              </a:extLst>
            </p:cNvPr>
            <p:cNvSpPr>
              <a:spLocks noGrp="1"/>
            </p:cNvSpPr>
            <p:nvPr/>
          </p:nvSpPr>
          <p:spPr>
            <a:xfrm>
              <a:off x="2609850" y="4724400"/>
              <a:ext cx="29527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950" b="1">
                  <a:solidFill>
                    <a:srgbClr val="0B0B0B"/>
                  </a:solidFill>
                </a:defRPr>
              </a:pPr>
              <a:r>
                <a:rPr sz="1950" b="1">
                  <a:solidFill>
                    <a:srgbClr val="0B0B0B"/>
                  </a:solidFill>
                </a:rPr>
                <a:t>LLM Layer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0CF1B03-70EC-4BFB-9190-CC9D728C58DA}"/>
                </a:ext>
              </a:extLst>
            </p:cNvPr>
            <p:cNvSpPr>
              <a:spLocks noGrp="1"/>
            </p:cNvSpPr>
            <p:nvPr/>
          </p:nvSpPr>
          <p:spPr>
            <a:xfrm>
              <a:off x="2609850" y="5219700"/>
              <a:ext cx="3028950" cy="742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91440" tIns="45720" rIns="91440" bIns="45720" anchor="t"/>
            <a:lstStyle/>
            <a:p>
              <a:pPr>
                <a:defRPr sz="1500">
                  <a:solidFill>
                    <a:srgbClr val="545454"/>
                  </a:solidFill>
                </a:defRPr>
              </a:pPr>
              <a:r>
                <a:rPr lang="en-US" sz="1500">
                  <a:solidFill>
                    <a:srgbClr val="545454"/>
                  </a:solidFill>
                </a:rPr>
                <a:t>OpenAI API, Function calls, Content generation, RAG, Text-embeddings</a:t>
              </a:r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C653298-5E08-2E0D-00EC-1388C264A161}"/>
              </a:ext>
            </a:extLst>
          </p:cNvPr>
          <p:cNvGrpSpPr/>
          <p:nvPr/>
        </p:nvGrpSpPr>
        <p:grpSpPr>
          <a:xfrm>
            <a:off x="4312557" y="3351894"/>
            <a:ext cx="3562350" cy="1638300"/>
            <a:chOff x="6286500" y="4476750"/>
            <a:chExt cx="3562350" cy="1638300"/>
          </a:xfrm>
        </p:grpSpPr>
        <p:sp>
          <p:nvSpPr>
            <p:cNvPr id="16" name="Docker Compose">
              <a:extLst>
                <a:ext uri="{FF2B5EF4-FFF2-40B4-BE49-F238E27FC236}">
                  <a16:creationId xmlns:a16="http://schemas.microsoft.com/office/drawing/2014/main" id="{27D50808-EF5B-428B-B84D-E2677CFF9D66}"/>
                </a:ext>
              </a:extLst>
            </p:cNvPr>
            <p:cNvSpPr>
              <a:spLocks noGrp="1"/>
            </p:cNvSpPr>
            <p:nvPr/>
          </p:nvSpPr>
          <p:spPr>
            <a:xfrm>
              <a:off x="6286500" y="4476750"/>
              <a:ext cx="3562350" cy="1638300"/>
            </a:xfrm>
            <a:prstGeom prst="rect">
              <a:avLst/>
            </a:prstGeom>
            <a:solidFill>
              <a:srgbClr val="EDEDED"/>
            </a:solidFill>
            <a:ln w="9525">
              <a:solidFill>
                <a:srgbClr val="B8BCC4"/>
              </a:solidFill>
              <a:prstDash val="solid"/>
            </a:ln>
          </p:spPr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910B78B-828C-4DAC-9305-0B80733AE1A4}"/>
                </a:ext>
              </a:extLst>
            </p:cNvPr>
            <p:cNvSpPr>
              <a:spLocks noGrp="1"/>
            </p:cNvSpPr>
            <p:nvPr/>
          </p:nvSpPr>
          <p:spPr>
            <a:xfrm>
              <a:off x="6534150" y="4724400"/>
              <a:ext cx="295275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>
                <a:defRPr sz="1950" b="1">
                  <a:solidFill>
                    <a:srgbClr val="0B0B0B"/>
                  </a:solidFill>
                </a:defRPr>
              </a:pPr>
              <a:r>
                <a:rPr sz="1950" b="1">
                  <a:solidFill>
                    <a:srgbClr val="0B0B0B"/>
                  </a:solidFill>
                </a:rPr>
                <a:t>Docker Compose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06FBE4B-C0E4-4E53-8821-5C7EAF304798}"/>
                </a:ext>
              </a:extLst>
            </p:cNvPr>
            <p:cNvSpPr>
              <a:spLocks noGrp="1"/>
            </p:cNvSpPr>
            <p:nvPr/>
          </p:nvSpPr>
          <p:spPr>
            <a:xfrm>
              <a:off x="6534150" y="5219700"/>
              <a:ext cx="3028950" cy="7429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91440" tIns="45720" rIns="91440" bIns="45720" anchor="t"/>
            <a:lstStyle/>
            <a:p>
              <a:pPr>
                <a:defRPr sz="1500">
                  <a:solidFill>
                    <a:srgbClr val="545454"/>
                  </a:solidFill>
                </a:defRPr>
              </a:pPr>
              <a:r>
                <a:rPr lang="en-US" sz="1500">
                  <a:solidFill>
                    <a:srgbClr val="545454"/>
                  </a:solidFill>
                </a:rPr>
                <a:t>DB </a:t>
              </a:r>
              <a:r>
                <a:rPr sz="1500">
                  <a:solidFill>
                    <a:srgbClr val="545454"/>
                  </a:solidFill>
                </a:rPr>
                <a:t>+</a:t>
              </a:r>
              <a:r>
                <a:rPr lang="en-US" sz="1500">
                  <a:solidFill>
                    <a:srgbClr val="545454"/>
                  </a:solidFill>
                </a:rPr>
                <a:t> backend</a:t>
              </a:r>
              <a:r>
                <a:rPr sz="1500">
                  <a:solidFill>
                    <a:srgbClr val="545454"/>
                  </a:solidFill>
                </a:rPr>
                <a:t> + frontend</a:t>
              </a:r>
            </a:p>
            <a:p>
              <a:pPr>
                <a:defRPr sz="1500">
                  <a:solidFill>
                    <a:srgbClr val="545454"/>
                  </a:solidFill>
                </a:defRPr>
              </a:pPr>
              <a:r>
                <a:rPr sz="1500">
                  <a:solidFill>
                    <a:srgbClr val="545454"/>
                  </a:solidFill>
                </a:rPr>
                <a:t>reproducible local MVP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CC255332-E122-42B6-9887-EB6BEAEEE7AD}"/>
              </a:ext>
            </a:extLst>
          </p:cNvPr>
          <p:cNvSpPr>
            <a:spLocks noGrp="1"/>
          </p:cNvSpPr>
          <p:nvPr/>
        </p:nvSpPr>
        <p:spPr>
          <a:xfrm>
            <a:off x="407307" y="5398407"/>
            <a:ext cx="11495314" cy="874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 b="1">
                <a:solidFill>
                  <a:srgbClr val="0B0B0B"/>
                </a:solidFill>
              </a:defRPr>
            </a:pPr>
            <a:r>
              <a:rPr lang="en-US" b="1">
                <a:solidFill>
                  <a:srgbClr val="0B0B0B"/>
                </a:solidFill>
              </a:rPr>
              <a:t>EXAMPLE</a:t>
            </a:r>
            <a:r>
              <a:rPr sz="1800" b="1">
                <a:solidFill>
                  <a:srgbClr val="0B0B0B"/>
                </a:solidFill>
              </a:rPr>
              <a:t>:</a:t>
            </a:r>
            <a:endParaRPr lang="en-US"/>
          </a:p>
          <a:p>
            <a:pPr>
              <a:defRPr sz="1800" b="1">
                <a:solidFill>
                  <a:srgbClr val="0B0B0B"/>
                </a:solidFill>
              </a:defRPr>
            </a:pPr>
            <a:r>
              <a:rPr lang="en-US" b="1">
                <a:solidFill>
                  <a:srgbClr val="0B0B0B"/>
                </a:solidFill>
              </a:rPr>
              <a:t>(FE / BE) Document upload</a:t>
            </a:r>
            <a:r>
              <a:rPr sz="1800" b="1">
                <a:solidFill>
                  <a:srgbClr val="0B0B0B"/>
                </a:solidFill>
              </a:rPr>
              <a:t> → </a:t>
            </a:r>
            <a:r>
              <a:rPr lang="en-US" b="1">
                <a:solidFill>
                  <a:srgbClr val="0B0B0B"/>
                </a:solidFill>
              </a:rPr>
              <a:t>(BE / LLM) </a:t>
            </a:r>
            <a:r>
              <a:rPr sz="1800" b="1">
                <a:solidFill>
                  <a:srgbClr val="0B0B0B"/>
                </a:solidFill>
              </a:rPr>
              <a:t>Background analysis → </a:t>
            </a:r>
            <a:r>
              <a:rPr lang="en-US" b="1">
                <a:solidFill>
                  <a:srgbClr val="0B0B0B"/>
                </a:solidFill>
              </a:rPr>
              <a:t>(BE / </a:t>
            </a:r>
            <a:r>
              <a:rPr sz="1800" b="1">
                <a:solidFill>
                  <a:srgbClr val="0B0B0B"/>
                </a:solidFill>
              </a:rPr>
              <a:t>DB</a:t>
            </a:r>
            <a:r>
              <a:rPr lang="en-US" b="1">
                <a:solidFill>
                  <a:srgbClr val="0B0B0B"/>
                </a:solidFill>
              </a:rPr>
              <a:t>) Artifacts</a:t>
            </a:r>
            <a:r>
              <a:rPr sz="1800" b="1">
                <a:solidFill>
                  <a:srgbClr val="0B0B0B"/>
                </a:solidFill>
              </a:rPr>
              <a:t> → </a:t>
            </a:r>
            <a:r>
              <a:rPr lang="en-US" b="1">
                <a:solidFill>
                  <a:srgbClr val="0B0B0B"/>
                </a:solidFill>
              </a:rPr>
              <a:t>(FE / BE) Learn Tab</a:t>
            </a:r>
          </a:p>
        </p:txBody>
      </p:sp>
    </p:spTree>
    <p:extLst>
      <p:ext uri="{BB962C8B-B14F-4D97-AF65-F5344CB8AC3E}">
        <p14:creationId xmlns:p14="http://schemas.microsoft.com/office/powerpoint/2010/main" val="154125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48CBA53-785B-4605-BEAE-D37C946D100F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3150" b="1">
                <a:solidFill>
                  <a:srgbClr val="0B0B0B"/>
                </a:solidFill>
              </a:defRPr>
            </a:pPr>
            <a:r>
              <a:rPr lang="en-US" sz="3150" b="1">
                <a:solidFill>
                  <a:srgbClr val="0B0B0B"/>
                </a:solidFill>
              </a:rPr>
              <a:t>Die 4 </a:t>
            </a:r>
            <a:r>
              <a:rPr lang="en-US" sz="3150" b="1" err="1">
                <a:solidFill>
                  <a:srgbClr val="0B0B0B"/>
                </a:solidFill>
              </a:rPr>
              <a:t>kognitiven</a:t>
            </a:r>
            <a:r>
              <a:rPr lang="en-US" sz="3150" b="1">
                <a:solidFill>
                  <a:srgbClr val="0B0B0B"/>
                </a:solidFill>
              </a:rPr>
              <a:t> </a:t>
            </a:r>
            <a:r>
              <a:rPr lang="en-US" sz="3150" b="1" err="1">
                <a:solidFill>
                  <a:srgbClr val="0B0B0B"/>
                </a:solidFill>
              </a:rPr>
              <a:t>Schichten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CC701DCC-530E-4C5C-AE22-E4686BD3B5A1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60D343-4CA0-4883-8525-F1F87C4D6A39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45454"/>
                </a:solidFill>
              </a:defRPr>
            </a:pPr>
            <a:r>
              <a:rPr sz="1125">
                <a:solidFill>
                  <a:srgbClr val="545454"/>
                </a:solidFill>
              </a:rPr>
              <a:t>05</a:t>
            </a:r>
          </a:p>
        </p:txBody>
      </p:sp>
      <p:sp>
        <p:nvSpPr>
          <p:cNvPr id="4" name="Perception">
            <a:extLst>
              <a:ext uri="{FF2B5EF4-FFF2-40B4-BE49-F238E27FC236}">
                <a16:creationId xmlns:a16="http://schemas.microsoft.com/office/drawing/2014/main" id="{88452B4E-0F4D-4B5C-8641-E9265CCDF8B9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2381250" cy="7810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464AF9-9DB1-4CB4-BEFB-918FF92911E3}"/>
              </a:ext>
            </a:extLst>
          </p:cNvPr>
          <p:cNvSpPr>
            <a:spLocks noGrp="1"/>
          </p:cNvSpPr>
          <p:nvPr/>
        </p:nvSpPr>
        <p:spPr>
          <a:xfrm>
            <a:off x="647700" y="16383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Perception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8754E1-0BDE-486B-902D-022592F16BF7}"/>
              </a:ext>
            </a:extLst>
          </p:cNvPr>
          <p:cNvSpPr>
            <a:spLocks noGrp="1"/>
          </p:cNvSpPr>
          <p:nvPr/>
        </p:nvSpPr>
        <p:spPr>
          <a:xfrm>
            <a:off x="3162300" y="1494064"/>
            <a:ext cx="7810500" cy="78467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Text- &amp; OCR-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Erkennung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aus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PDF, Bild, Text</a:t>
            </a:r>
            <a:endParaRPr lang="en-US"/>
          </a:p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Eingabeprüfung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&amp;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automatische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Themen-Erkennung</a:t>
            </a:r>
            <a:endParaRPr lang="en-US" err="1"/>
          </a:p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Umwandlung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in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Vektoren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(Embeddings)</a:t>
            </a:r>
            <a:endParaRPr lang="en-US"/>
          </a:p>
          <a:p>
            <a:pPr>
              <a:defRPr sz="1725">
                <a:solidFill>
                  <a:srgbClr val="545454"/>
                </a:solidFill>
              </a:defRPr>
            </a:pPr>
            <a:endParaRPr lang="en-US" sz="1700">
              <a:solidFill>
                <a:srgbClr val="545454"/>
              </a:solidFill>
            </a:endParaRPr>
          </a:p>
        </p:txBody>
      </p:sp>
      <p:sp>
        <p:nvSpPr>
          <p:cNvPr id="7" name="Memory">
            <a:extLst>
              <a:ext uri="{FF2B5EF4-FFF2-40B4-BE49-F238E27FC236}">
                <a16:creationId xmlns:a16="http://schemas.microsoft.com/office/drawing/2014/main" id="{9250485A-8936-4B97-9F3B-7800815246D4}"/>
              </a:ext>
            </a:extLst>
          </p:cNvPr>
          <p:cNvSpPr>
            <a:spLocks noGrp="1"/>
          </p:cNvSpPr>
          <p:nvPr/>
        </p:nvSpPr>
        <p:spPr>
          <a:xfrm>
            <a:off x="400050" y="2495550"/>
            <a:ext cx="2381250" cy="781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A41DDB-BBBF-496A-AA65-0BFD0D85A5A5}"/>
              </a:ext>
            </a:extLst>
          </p:cNvPr>
          <p:cNvSpPr>
            <a:spLocks noGrp="1"/>
          </p:cNvSpPr>
          <p:nvPr/>
        </p:nvSpPr>
        <p:spPr>
          <a:xfrm>
            <a:off x="647700" y="27051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Memory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4F7917-CF6B-499F-B844-15E718333B27}"/>
              </a:ext>
            </a:extLst>
          </p:cNvPr>
          <p:cNvSpPr>
            <a:spLocks noGrp="1"/>
          </p:cNvSpPr>
          <p:nvPr/>
        </p:nvSpPr>
        <p:spPr>
          <a:xfrm>
            <a:off x="3162300" y="2589893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Kurzzeit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-,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Ereignis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- &amp;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Langzeitgedächtnis</a:t>
            </a:r>
            <a:endParaRPr lang="en-US" err="1"/>
          </a:p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Confidence-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Werte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&amp;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typische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Fehler pro Thema</a:t>
            </a:r>
            <a:endParaRPr lang="en-US"/>
          </a:p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Dokumente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als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semantisches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Gedächtnis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(RAG)</a:t>
            </a:r>
            <a:endParaRPr lang="en-US"/>
          </a:p>
          <a:p>
            <a:pPr>
              <a:defRPr sz="1725">
                <a:solidFill>
                  <a:srgbClr val="545454"/>
                </a:solidFill>
              </a:defRPr>
            </a:pPr>
            <a:endParaRPr lang="en-US" sz="1700">
              <a:solidFill>
                <a:srgbClr val="545454"/>
              </a:solidFill>
            </a:endParaRPr>
          </a:p>
        </p:txBody>
      </p:sp>
      <p:sp>
        <p:nvSpPr>
          <p:cNvPr id="10" name="Planning">
            <a:extLst>
              <a:ext uri="{FF2B5EF4-FFF2-40B4-BE49-F238E27FC236}">
                <a16:creationId xmlns:a16="http://schemas.microsoft.com/office/drawing/2014/main" id="{B9181D50-8688-442C-A407-62CA3DE02EDE}"/>
              </a:ext>
            </a:extLst>
          </p:cNvPr>
          <p:cNvSpPr>
            <a:spLocks noGrp="1"/>
          </p:cNvSpPr>
          <p:nvPr/>
        </p:nvSpPr>
        <p:spPr>
          <a:xfrm>
            <a:off x="400050" y="3562350"/>
            <a:ext cx="2381250" cy="781050"/>
          </a:xfrm>
          <a:prstGeom prst="rect">
            <a:avLst/>
          </a:prstGeom>
          <a:solidFill>
            <a:srgbClr val="F7F7F7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A0920-0D3A-492F-8ADB-524BAE55A28D}"/>
              </a:ext>
            </a:extLst>
          </p:cNvPr>
          <p:cNvSpPr>
            <a:spLocks noGrp="1"/>
          </p:cNvSpPr>
          <p:nvPr/>
        </p:nvSpPr>
        <p:spPr>
          <a:xfrm>
            <a:off x="647700" y="37719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Planning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BA4B34-B3CF-4965-9D98-C657BA7CFEDB}"/>
              </a:ext>
            </a:extLst>
          </p:cNvPr>
          <p:cNvSpPr>
            <a:spLocks noGrp="1"/>
          </p:cNvSpPr>
          <p:nvPr/>
        </p:nvSpPr>
        <p:spPr>
          <a:xfrm>
            <a:off x="3162300" y="3656693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Sokratisches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Prinzip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: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Fragen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statt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Lösungen</a:t>
            </a:r>
            <a:endParaRPr lang="en-US" err="1"/>
          </a:p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4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Hilfestufen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, an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Nutzersprache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angepasst</a:t>
            </a:r>
            <a:endParaRPr lang="en-US" err="1"/>
          </a:p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Entscheidungsschleife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mit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vollem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Kontext</a:t>
            </a:r>
            <a:endParaRPr lang="en-US" err="1"/>
          </a:p>
          <a:p>
            <a:pPr>
              <a:defRPr sz="1725">
                <a:solidFill>
                  <a:srgbClr val="545454"/>
                </a:solidFill>
              </a:defRPr>
            </a:pPr>
            <a:endParaRPr lang="en-US" sz="1700">
              <a:solidFill>
                <a:srgbClr val="545454"/>
              </a:solidFill>
            </a:endParaRPr>
          </a:p>
        </p:txBody>
      </p:sp>
      <p:sp>
        <p:nvSpPr>
          <p:cNvPr id="13" name="Action">
            <a:extLst>
              <a:ext uri="{FF2B5EF4-FFF2-40B4-BE49-F238E27FC236}">
                <a16:creationId xmlns:a16="http://schemas.microsoft.com/office/drawing/2014/main" id="{3A6E4849-7B03-426F-89B0-98F3B3456E6B}"/>
              </a:ext>
            </a:extLst>
          </p:cNvPr>
          <p:cNvSpPr>
            <a:spLocks noGrp="1"/>
          </p:cNvSpPr>
          <p:nvPr/>
        </p:nvSpPr>
        <p:spPr>
          <a:xfrm>
            <a:off x="400050" y="4629150"/>
            <a:ext cx="2381250" cy="7810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C2942F-6BCC-4BD0-B2D3-9AF39F5B32D3}"/>
              </a:ext>
            </a:extLst>
          </p:cNvPr>
          <p:cNvSpPr>
            <a:spLocks noGrp="1"/>
          </p:cNvSpPr>
          <p:nvPr/>
        </p:nvSpPr>
        <p:spPr>
          <a:xfrm>
            <a:off x="647700" y="4838700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B0B0B"/>
                </a:solidFill>
              </a:defRPr>
            </a:pPr>
            <a:r>
              <a:rPr sz="1950" b="1">
                <a:solidFill>
                  <a:srgbClr val="0B0B0B"/>
                </a:solidFill>
              </a:rPr>
              <a:t>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A06152-025B-48CA-B328-52CE6BC833B4}"/>
              </a:ext>
            </a:extLst>
          </p:cNvPr>
          <p:cNvSpPr>
            <a:spLocks noGrp="1"/>
          </p:cNvSpPr>
          <p:nvPr/>
        </p:nvSpPr>
        <p:spPr>
          <a:xfrm>
            <a:off x="3162300" y="4708979"/>
            <a:ext cx="781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Antworten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bewerten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&amp; Feedback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geben</a:t>
            </a:r>
            <a:endParaRPr lang="en-US" err="1"/>
          </a:p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Lernmaterial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&amp;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Kalendereinträge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erzeugen</a:t>
            </a:r>
            <a:endParaRPr lang="en-US" err="1"/>
          </a:p>
          <a:p>
            <a:pPr marL="285750" indent="-285750">
              <a:buFont typeface="Wingdings"/>
              <a:buChar char="Ø"/>
              <a:defRPr sz="1725">
                <a:solidFill>
                  <a:srgbClr val="545454"/>
                </a:solidFill>
              </a:defRPr>
            </a:pP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Echtzeit-Rückmeldung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</a:t>
            </a:r>
            <a:r>
              <a:rPr lang="en-US" sz="1300" err="1">
                <a:solidFill>
                  <a:srgbClr val="2B2B2B"/>
                </a:solidFill>
                <a:latin typeface="Segoe UI"/>
                <a:cs typeface="Segoe UI"/>
              </a:rPr>
              <a:t>ans</a:t>
            </a:r>
            <a:r>
              <a:rPr lang="en-US" sz="1300">
                <a:solidFill>
                  <a:srgbClr val="2B2B2B"/>
                </a:solidFill>
                <a:latin typeface="Segoe UI"/>
                <a:cs typeface="Segoe UI"/>
              </a:rPr>
              <a:t> Frontend</a:t>
            </a:r>
            <a:endParaRPr lang="en-US"/>
          </a:p>
          <a:p>
            <a:pPr>
              <a:defRPr sz="1725">
                <a:solidFill>
                  <a:srgbClr val="545454"/>
                </a:solidFill>
              </a:defRPr>
            </a:pPr>
            <a:endParaRPr lang="en-US" sz="1700">
              <a:solidFill>
                <a:srgbClr val="545454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0563A0-E88D-495C-AC0B-308892B37507}"/>
              </a:ext>
            </a:extLst>
          </p:cNvPr>
          <p:cNvSpPr>
            <a:spLocks noGrp="1"/>
          </p:cNvSpPr>
          <p:nvPr/>
        </p:nvSpPr>
        <p:spPr>
          <a:xfrm>
            <a:off x="400050" y="584835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650">
                <a:solidFill>
                  <a:srgbClr val="0B0B0B"/>
                </a:solidFill>
              </a:defRPr>
            </a:pPr>
            <a:r>
              <a:rPr sz="1650">
                <a:solidFill>
                  <a:srgbClr val="0B0B0B"/>
                </a:solidFill>
              </a:rPr>
              <a:t>Wichtig: Die </a:t>
            </a:r>
            <a:r>
              <a:rPr lang="en-US" sz="1650" err="1">
                <a:solidFill>
                  <a:srgbClr val="0B0B0B"/>
                </a:solidFill>
              </a:rPr>
              <a:t>stärkste</a:t>
            </a:r>
            <a:r>
              <a:rPr lang="en-US" sz="1650">
                <a:solidFill>
                  <a:srgbClr val="0B0B0B"/>
                </a:solidFill>
              </a:rPr>
              <a:t> Abhängigkeit</a:t>
            </a:r>
            <a:r>
              <a:rPr sz="1650">
                <a:solidFill>
                  <a:srgbClr val="0B0B0B"/>
                </a:solidFill>
              </a:rPr>
              <a:t> </a:t>
            </a:r>
            <a:r>
              <a:rPr lang="en-GB" sz="1650" err="1">
                <a:solidFill>
                  <a:srgbClr val="0B0B0B"/>
                </a:solidFill>
              </a:rPr>
              <a:t>liegt</a:t>
            </a:r>
            <a:r>
              <a:rPr sz="1650">
                <a:solidFill>
                  <a:srgbClr val="0B0B0B"/>
                </a:solidFill>
              </a:rPr>
              <a:t> in Perception. Wenn der Upload </a:t>
            </a:r>
            <a:r>
              <a:rPr lang="en-GB" sz="1650" err="1">
                <a:solidFill>
                  <a:srgbClr val="0B0B0B"/>
                </a:solidFill>
              </a:rPr>
              <a:t>falsch</a:t>
            </a:r>
            <a:r>
              <a:rPr sz="1650">
                <a:solidFill>
                  <a:srgbClr val="0B0B0B"/>
                </a:solidFill>
              </a:rPr>
              <a:t> </a:t>
            </a:r>
            <a:r>
              <a:rPr lang="en-GB" sz="1650" err="1">
                <a:solidFill>
                  <a:srgbClr val="0B0B0B"/>
                </a:solidFill>
              </a:rPr>
              <a:t>verstanden</a:t>
            </a:r>
            <a:r>
              <a:rPr sz="1650">
                <a:solidFill>
                  <a:srgbClr val="0B0B0B"/>
                </a:solidFill>
              </a:rPr>
              <a:t> </a:t>
            </a:r>
            <a:r>
              <a:rPr lang="en-GB" sz="1650" err="1">
                <a:solidFill>
                  <a:srgbClr val="0B0B0B"/>
                </a:solidFill>
              </a:rPr>
              <a:t>wird</a:t>
            </a:r>
            <a:r>
              <a:rPr sz="1650">
                <a:solidFill>
                  <a:srgbClr val="0B0B0B"/>
                </a:solidFill>
              </a:rPr>
              <a:t>, </a:t>
            </a:r>
            <a:r>
              <a:rPr lang="en-GB" sz="1650" err="1">
                <a:solidFill>
                  <a:srgbClr val="0B0B0B"/>
                </a:solidFill>
              </a:rPr>
              <a:t>sind</a:t>
            </a:r>
            <a:r>
              <a:rPr sz="1650">
                <a:solidFill>
                  <a:srgbClr val="0B0B0B"/>
                </a:solidFill>
              </a:rPr>
              <a:t> Quiz und </a:t>
            </a:r>
            <a:r>
              <a:rPr lang="en-GB" sz="1650" err="1">
                <a:solidFill>
                  <a:srgbClr val="0B0B0B"/>
                </a:solidFill>
              </a:rPr>
              <a:t>Tutorantwort</a:t>
            </a:r>
            <a:r>
              <a:rPr sz="1650">
                <a:solidFill>
                  <a:srgbClr val="0B0B0B"/>
                </a:solidFill>
              </a:rPr>
              <a:t> </a:t>
            </a:r>
            <a:r>
              <a:rPr lang="en-GB" sz="1650" err="1">
                <a:solidFill>
                  <a:srgbClr val="0B0B0B"/>
                </a:solidFill>
              </a:rPr>
              <a:t>ebenfalls</a:t>
            </a:r>
            <a:r>
              <a:rPr sz="1650">
                <a:solidFill>
                  <a:srgbClr val="0B0B0B"/>
                </a:solidFill>
              </a:rPr>
              <a:t> </a:t>
            </a:r>
            <a:r>
              <a:rPr lang="en-GB" sz="1650" err="1">
                <a:solidFill>
                  <a:srgbClr val="0B0B0B"/>
                </a:solidFill>
              </a:rPr>
              <a:t>schwach</a:t>
            </a:r>
            <a:r>
              <a:rPr sz="1650">
                <a:solidFill>
                  <a:srgbClr val="0B0B0B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259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EE2E490-2583-4485-B17B-D0D7C18138AB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0B0B0B"/>
                </a:solidFill>
              </a:defRPr>
            </a:pPr>
            <a:r>
              <a:rPr sz="3150" b="1">
                <a:solidFill>
                  <a:srgbClr val="0B0B0B"/>
                </a:solidFill>
              </a:rPr>
              <a:t>Technische Highlights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2E339432-7352-4820-9369-95D46DEC107E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9CAD01-EC3B-4CC2-BBD2-326C8C1A55D3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45454"/>
                </a:solidFill>
              </a:defRPr>
            </a:pPr>
            <a:r>
              <a:rPr sz="1125">
                <a:solidFill>
                  <a:srgbClr val="545454"/>
                </a:solidFill>
              </a:rPr>
              <a:t>07</a:t>
            </a:r>
          </a:p>
        </p:txBody>
      </p:sp>
      <p:sp>
        <p:nvSpPr>
          <p:cNvPr id="4" name="bullet">
            <a:extLst>
              <a:ext uri="{FF2B5EF4-FFF2-40B4-BE49-F238E27FC236}">
                <a16:creationId xmlns:a16="http://schemas.microsoft.com/office/drawing/2014/main" id="{35F88907-CE1B-40C5-B9EA-C37521F2D993}"/>
              </a:ext>
            </a:extLst>
          </p:cNvPr>
          <p:cNvSpPr>
            <a:spLocks noGrp="1"/>
          </p:cNvSpPr>
          <p:nvPr/>
        </p:nvSpPr>
        <p:spPr>
          <a:xfrm>
            <a:off x="781050" y="154305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E45AD1-6E75-4A6D-9261-4FD16782F2C9}"/>
              </a:ext>
            </a:extLst>
          </p:cNvPr>
          <p:cNvSpPr>
            <a:spLocks noGrp="1"/>
          </p:cNvSpPr>
          <p:nvPr/>
        </p:nvSpPr>
        <p:spPr>
          <a:xfrm>
            <a:off x="1009650" y="1447800"/>
            <a:ext cx="7867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50">
                <a:solidFill>
                  <a:srgbClr val="0B0B0B"/>
                </a:solidFill>
              </a:rPr>
              <a:t>Structured Output </a:t>
            </a:r>
            <a:r>
              <a:rPr lang="en-US" sz="1850">
                <a:solidFill>
                  <a:srgbClr val="0B0B0B"/>
                </a:solidFill>
              </a:rPr>
              <a:t>für</a:t>
            </a:r>
            <a:r>
              <a:rPr sz="1850">
                <a:solidFill>
                  <a:srgbClr val="0B0B0B"/>
                </a:solidFill>
              </a:rPr>
              <a:t> Tasks, </a:t>
            </a:r>
            <a:r>
              <a:rPr sz="1850" err="1">
                <a:solidFill>
                  <a:srgbClr val="0B0B0B"/>
                </a:solidFill>
              </a:rPr>
              <a:t>Quizfragen</a:t>
            </a:r>
            <a:r>
              <a:rPr sz="1850">
                <a:solidFill>
                  <a:srgbClr val="0B0B0B"/>
                </a:solidFill>
              </a:rPr>
              <a:t>, </a:t>
            </a:r>
            <a:r>
              <a:rPr sz="1850" err="1">
                <a:solidFill>
                  <a:srgbClr val="0B0B0B"/>
                </a:solidFill>
              </a:rPr>
              <a:t>Cheatsheet</a:t>
            </a:r>
            <a:r>
              <a:rPr sz="1850">
                <a:solidFill>
                  <a:srgbClr val="0B0B0B"/>
                </a:solidFill>
              </a:rPr>
              <a:t> und </a:t>
            </a:r>
            <a:r>
              <a:rPr sz="1850" err="1">
                <a:solidFill>
                  <a:srgbClr val="0B0B0B"/>
                </a:solidFill>
              </a:rPr>
              <a:t>semantische</a:t>
            </a:r>
            <a:r>
              <a:rPr sz="1850">
                <a:solidFill>
                  <a:srgbClr val="0B0B0B"/>
                </a:solidFill>
              </a:rPr>
              <a:t> Tags</a:t>
            </a:r>
          </a:p>
        </p:txBody>
      </p:sp>
      <p:sp>
        <p:nvSpPr>
          <p:cNvPr id="6" name="bullet">
            <a:extLst>
              <a:ext uri="{FF2B5EF4-FFF2-40B4-BE49-F238E27FC236}">
                <a16:creationId xmlns:a16="http://schemas.microsoft.com/office/drawing/2014/main" id="{AB6EFA79-800B-4183-90A7-A473B73AD2B8}"/>
              </a:ext>
            </a:extLst>
          </p:cNvPr>
          <p:cNvSpPr>
            <a:spLocks noGrp="1"/>
          </p:cNvSpPr>
          <p:nvPr/>
        </p:nvSpPr>
        <p:spPr>
          <a:xfrm>
            <a:off x="781050" y="222885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0D813-3171-4C91-8E21-A4E70E9DECA3}"/>
              </a:ext>
            </a:extLst>
          </p:cNvPr>
          <p:cNvSpPr>
            <a:spLocks noGrp="1"/>
          </p:cNvSpPr>
          <p:nvPr/>
        </p:nvSpPr>
        <p:spPr>
          <a:xfrm>
            <a:off x="1009650" y="2133600"/>
            <a:ext cx="7867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75">
                <a:solidFill>
                  <a:srgbClr val="0B0B0B"/>
                </a:solidFill>
              </a:rPr>
              <a:t>Asynchrone Dokumentanalyse als Background Task nach Upload</a:t>
            </a:r>
          </a:p>
        </p:txBody>
      </p:sp>
      <p:sp>
        <p:nvSpPr>
          <p:cNvPr id="8" name="bullet">
            <a:extLst>
              <a:ext uri="{FF2B5EF4-FFF2-40B4-BE49-F238E27FC236}">
                <a16:creationId xmlns:a16="http://schemas.microsoft.com/office/drawing/2014/main" id="{5FA455AD-9F56-41AB-B675-2ACE383190D2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DCB264-5CE1-4CA0-BA8D-F82C102D15B5}"/>
              </a:ext>
            </a:extLst>
          </p:cNvPr>
          <p:cNvSpPr>
            <a:spLocks noGrp="1"/>
          </p:cNvSpPr>
          <p:nvPr/>
        </p:nvSpPr>
        <p:spPr>
          <a:xfrm>
            <a:off x="1009650" y="2819400"/>
            <a:ext cx="7867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50" err="1">
                <a:solidFill>
                  <a:srgbClr val="0B0B0B"/>
                </a:solidFill>
              </a:rPr>
              <a:t>ReAct</a:t>
            </a:r>
            <a:r>
              <a:rPr sz="1850">
                <a:solidFill>
                  <a:srgbClr val="0B0B0B"/>
                </a:solidFill>
              </a:rPr>
              <a:t>-Loop </a:t>
            </a:r>
            <a:r>
              <a:rPr sz="1850" err="1">
                <a:solidFill>
                  <a:srgbClr val="0B0B0B"/>
                </a:solidFill>
              </a:rPr>
              <a:t>mit</a:t>
            </a:r>
            <a:r>
              <a:rPr sz="1850">
                <a:solidFill>
                  <a:srgbClr val="0B0B0B"/>
                </a:solidFill>
              </a:rPr>
              <a:t> Tool Registry und Tool Observations </a:t>
            </a:r>
            <a:r>
              <a:rPr lang="en-US" sz="1850">
                <a:solidFill>
                  <a:srgbClr val="0B0B0B"/>
                </a:solidFill>
              </a:rPr>
              <a:t>für</a:t>
            </a:r>
            <a:r>
              <a:rPr sz="1850">
                <a:solidFill>
                  <a:srgbClr val="0B0B0B"/>
                </a:solidFill>
              </a:rPr>
              <a:t> </a:t>
            </a:r>
            <a:r>
              <a:rPr sz="1850" err="1">
                <a:solidFill>
                  <a:srgbClr val="0B0B0B"/>
                </a:solidFill>
              </a:rPr>
              <a:t>Tutoraktionen</a:t>
            </a:r>
            <a:endParaRPr lang="en-US" sz="1850">
              <a:solidFill>
                <a:srgbClr val="0B0B0B"/>
              </a:solidFill>
            </a:endParaRPr>
          </a:p>
        </p:txBody>
      </p:sp>
      <p:sp>
        <p:nvSpPr>
          <p:cNvPr id="10" name="bullet">
            <a:extLst>
              <a:ext uri="{FF2B5EF4-FFF2-40B4-BE49-F238E27FC236}">
                <a16:creationId xmlns:a16="http://schemas.microsoft.com/office/drawing/2014/main" id="{685C83CB-A060-424A-A6F7-F11B1234A3FF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C2F445-DB71-4F0D-868D-944B64524782}"/>
              </a:ext>
            </a:extLst>
          </p:cNvPr>
          <p:cNvSpPr>
            <a:spLocks noGrp="1"/>
          </p:cNvSpPr>
          <p:nvPr/>
        </p:nvSpPr>
        <p:spPr>
          <a:xfrm>
            <a:off x="1009650" y="3505200"/>
            <a:ext cx="7867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50">
                <a:solidFill>
                  <a:srgbClr val="0B0B0B"/>
                </a:solidFill>
              </a:rPr>
              <a:t>WebSocket Events </a:t>
            </a:r>
            <a:r>
              <a:rPr lang="en-US" sz="1850">
                <a:solidFill>
                  <a:srgbClr val="0B0B0B"/>
                </a:solidFill>
              </a:rPr>
              <a:t>für</a:t>
            </a:r>
            <a:r>
              <a:rPr sz="1850">
                <a:solidFill>
                  <a:srgbClr val="0B0B0B"/>
                </a:solidFill>
              </a:rPr>
              <a:t> </a:t>
            </a:r>
            <a:r>
              <a:rPr sz="1850" err="1">
                <a:solidFill>
                  <a:srgbClr val="0B0B0B"/>
                </a:solidFill>
              </a:rPr>
              <a:t>Analyse-Fertigstellung</a:t>
            </a:r>
            <a:r>
              <a:rPr sz="1850">
                <a:solidFill>
                  <a:srgbClr val="0B0B0B"/>
                </a:solidFill>
              </a:rPr>
              <a:t> und Reward-Popups</a:t>
            </a:r>
          </a:p>
        </p:txBody>
      </p:sp>
      <p:sp>
        <p:nvSpPr>
          <p:cNvPr id="12" name="bullet">
            <a:extLst>
              <a:ext uri="{FF2B5EF4-FFF2-40B4-BE49-F238E27FC236}">
                <a16:creationId xmlns:a16="http://schemas.microsoft.com/office/drawing/2014/main" id="{EE751EB4-C39C-4DCA-820C-DA935035CEDD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8229D8-C683-48F0-8072-D9B70421234E}"/>
              </a:ext>
            </a:extLst>
          </p:cNvPr>
          <p:cNvSpPr>
            <a:spLocks noGrp="1"/>
          </p:cNvSpPr>
          <p:nvPr/>
        </p:nvSpPr>
        <p:spPr>
          <a:xfrm>
            <a:off x="1009650" y="4191000"/>
            <a:ext cx="7867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>
                <a:solidFill>
                  <a:srgbClr val="0B0B0B"/>
                </a:solidFill>
              </a:defRPr>
            </a:pPr>
            <a:r>
              <a:rPr sz="1875">
                <a:solidFill>
                  <a:srgbClr val="0B0B0B"/>
                </a:solidFill>
              </a:rPr>
              <a:t>Semantic Reliability Score: Tool Coverage, Trace-ID, Sokratische Antwortform</a:t>
            </a:r>
          </a:p>
        </p:txBody>
      </p:sp>
    </p:spTree>
    <p:extLst>
      <p:ext uri="{BB962C8B-B14F-4D97-AF65-F5344CB8AC3E}">
        <p14:creationId xmlns:p14="http://schemas.microsoft.com/office/powerpoint/2010/main" val="1521919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6017D838-21E9-420D-A961-AE613912B0E7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3150" b="1">
                <a:solidFill>
                  <a:srgbClr val="0B0B0B"/>
                </a:solidFill>
              </a:defRPr>
            </a:pPr>
            <a:r>
              <a:rPr sz="3150" b="1">
                <a:solidFill>
                  <a:srgbClr val="0B0B0B"/>
                </a:solidFill>
              </a:rPr>
              <a:t>Safety &amp; Guardrails</a:t>
            </a:r>
            <a:endParaRPr lang="en-GB" sz="3150" b="1">
              <a:solidFill>
                <a:srgbClr val="0B0B0B"/>
              </a:solidFill>
            </a:endParaRP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0CD45550-7C2A-4F10-A4C7-71EBC4A3C3E6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CF7BA4-30F2-41F4-9C66-2C00C63FE7E5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45454"/>
                </a:solidFill>
              </a:defRPr>
            </a:pPr>
            <a:r>
              <a:rPr sz="1125">
                <a:solidFill>
                  <a:srgbClr val="545454"/>
                </a:solidFill>
              </a:rPr>
              <a:t>09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A0F253-E199-B4D9-0AC3-FB1423EEC000}"/>
              </a:ext>
            </a:extLst>
          </p:cNvPr>
          <p:cNvSpPr txBox="1"/>
          <p:nvPr/>
        </p:nvSpPr>
        <p:spPr>
          <a:xfrm>
            <a:off x="770188" y="1720533"/>
            <a:ext cx="8028152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§"/>
            </a:pPr>
            <a:r>
              <a:rPr lang="en-GB" sz="2200">
                <a:ea typeface="+mn-lt"/>
                <a:cs typeface="+mn-lt"/>
              </a:rPr>
              <a:t>Guardrails für </a:t>
            </a:r>
            <a:r>
              <a:rPr lang="en-GB" sz="2200" err="1">
                <a:ea typeface="+mn-lt"/>
                <a:cs typeface="+mn-lt"/>
              </a:rPr>
              <a:t>Robustheit</a:t>
            </a:r>
            <a:r>
              <a:rPr lang="en-GB" sz="2200">
                <a:ea typeface="+mn-lt"/>
                <a:cs typeface="+mn-lt"/>
              </a:rPr>
              <a:t> und Sicherheit:</a:t>
            </a:r>
            <a:endParaRPr lang="en-US" sz="2200"/>
          </a:p>
          <a:p>
            <a:pPr marL="742950" lvl="1" indent="-285750">
              <a:buFont typeface="Arial"/>
              <a:buChar char="•"/>
            </a:pPr>
            <a:r>
              <a:rPr lang="en-GB" sz="2200">
                <a:ea typeface="+mn-lt"/>
                <a:cs typeface="+mn-lt"/>
              </a:rPr>
              <a:t>Input-Filtering</a:t>
            </a:r>
            <a:endParaRPr lang="en-GB" sz="2200"/>
          </a:p>
          <a:p>
            <a:pPr marL="1200150" lvl="2" indent="-285750">
              <a:buFont typeface="Wingdings"/>
              <a:buChar char="§"/>
            </a:pPr>
            <a:r>
              <a:rPr lang="en-GB" sz="2200" err="1">
                <a:ea typeface="+mn-lt"/>
                <a:cs typeface="+mn-lt"/>
              </a:rPr>
              <a:t>Eingaben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2200" err="1">
                <a:ea typeface="+mn-lt"/>
                <a:cs typeface="+mn-lt"/>
              </a:rPr>
              <a:t>prüfen</a:t>
            </a:r>
            <a:r>
              <a:rPr lang="en-GB" sz="2200">
                <a:ea typeface="+mn-lt"/>
                <a:cs typeface="+mn-lt"/>
              </a:rPr>
              <a:t> und </a:t>
            </a:r>
            <a:r>
              <a:rPr lang="en-GB" sz="2200" err="1">
                <a:ea typeface="+mn-lt"/>
                <a:cs typeface="+mn-lt"/>
              </a:rPr>
              <a:t>bereinigen</a:t>
            </a:r>
            <a:endParaRPr lang="en-GB" sz="2200" err="1"/>
          </a:p>
          <a:p>
            <a:pPr marL="1200150" lvl="2" indent="-285750">
              <a:buFont typeface="Wingdings"/>
              <a:buChar char="§"/>
            </a:pPr>
            <a:r>
              <a:rPr lang="en-GB" sz="2200">
                <a:ea typeface="+mn-lt"/>
                <a:cs typeface="+mn-lt"/>
              </a:rPr>
              <a:t>Prompt-Injection-</a:t>
            </a:r>
            <a:r>
              <a:rPr lang="en-GB" sz="2200" err="1">
                <a:ea typeface="+mn-lt"/>
                <a:cs typeface="+mn-lt"/>
              </a:rPr>
              <a:t>Versuche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2200" err="1">
                <a:ea typeface="+mn-lt"/>
                <a:cs typeface="+mn-lt"/>
              </a:rPr>
              <a:t>erkennen</a:t>
            </a:r>
            <a:r>
              <a:rPr lang="en-GB" sz="2200">
                <a:ea typeface="+mn-lt"/>
                <a:cs typeface="+mn-lt"/>
              </a:rPr>
              <a:t> und </a:t>
            </a:r>
            <a:r>
              <a:rPr lang="en-GB" sz="2200" err="1">
                <a:ea typeface="+mn-lt"/>
                <a:cs typeface="+mn-lt"/>
              </a:rPr>
              <a:t>blockieren</a:t>
            </a:r>
            <a:endParaRPr lang="en-GB" sz="2200" err="1"/>
          </a:p>
          <a:p>
            <a:pPr marL="1200150" lvl="2" indent="-285750">
              <a:buFont typeface="Wingdings"/>
              <a:buChar char="§"/>
            </a:pPr>
            <a:r>
              <a:rPr lang="en-GB" sz="2200" err="1">
                <a:ea typeface="+mn-lt"/>
                <a:cs typeface="+mn-lt"/>
              </a:rPr>
              <a:t>manipulierte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2200" err="1">
                <a:ea typeface="+mn-lt"/>
                <a:cs typeface="+mn-lt"/>
              </a:rPr>
              <a:t>Eingaben</a:t>
            </a:r>
            <a:r>
              <a:rPr lang="en-GB" sz="2200">
                <a:ea typeface="+mn-lt"/>
                <a:cs typeface="+mn-lt"/>
              </a:rPr>
              <a:t> nicht </a:t>
            </a:r>
            <a:r>
              <a:rPr lang="en-GB" sz="2200" err="1">
                <a:ea typeface="+mn-lt"/>
                <a:cs typeface="+mn-lt"/>
              </a:rPr>
              <a:t>weitergeben</a:t>
            </a:r>
            <a:endParaRPr lang="en-GB" sz="2200" err="1"/>
          </a:p>
          <a:p>
            <a:pPr marL="742950" lvl="1" indent="-285750">
              <a:buFont typeface="Arial"/>
              <a:buChar char="•"/>
            </a:pPr>
            <a:r>
              <a:rPr lang="en-GB" sz="2200">
                <a:ea typeface="+mn-lt"/>
                <a:cs typeface="+mn-lt"/>
              </a:rPr>
              <a:t>Scope-</a:t>
            </a:r>
            <a:r>
              <a:rPr lang="en-GB" sz="2200" err="1">
                <a:ea typeface="+mn-lt"/>
                <a:cs typeface="+mn-lt"/>
              </a:rPr>
              <a:t>Einschränkung</a:t>
            </a:r>
            <a:r>
              <a:rPr lang="en-GB" sz="2200">
                <a:ea typeface="+mn-lt"/>
                <a:cs typeface="+mn-lt"/>
              </a:rPr>
              <a:t> </a:t>
            </a:r>
            <a:endParaRPr lang="en-GB" sz="2200"/>
          </a:p>
          <a:p>
            <a:pPr marL="1200150" lvl="2" indent="-285750">
              <a:buFont typeface="Wingdings"/>
              <a:buChar char="§"/>
            </a:pPr>
            <a:r>
              <a:rPr lang="en-GB" sz="2200">
                <a:ea typeface="+mn-lt"/>
                <a:cs typeface="+mn-lt"/>
              </a:rPr>
              <a:t>Chat </a:t>
            </a:r>
            <a:r>
              <a:rPr lang="en-GB" sz="2200" err="1">
                <a:ea typeface="+mn-lt"/>
                <a:cs typeface="+mn-lt"/>
              </a:rPr>
              <a:t>darf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2200" err="1">
                <a:ea typeface="+mn-lt"/>
                <a:cs typeface="+mn-lt"/>
              </a:rPr>
              <a:t>nur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2200" err="1">
                <a:ea typeface="+mn-lt"/>
                <a:cs typeface="+mn-lt"/>
              </a:rPr>
              <a:t>bestimmte</a:t>
            </a:r>
            <a:r>
              <a:rPr lang="en-GB" sz="2200">
                <a:ea typeface="+mn-lt"/>
                <a:cs typeface="+mn-lt"/>
              </a:rPr>
              <a:t> Tools </a:t>
            </a:r>
            <a:r>
              <a:rPr lang="en-GB" sz="2200" err="1">
                <a:ea typeface="+mn-lt"/>
                <a:cs typeface="+mn-lt"/>
              </a:rPr>
              <a:t>aufrufen</a:t>
            </a:r>
            <a:endParaRPr lang="en-GB" sz="2200" err="1"/>
          </a:p>
          <a:p>
            <a:pPr marL="1200150" lvl="2" indent="-285750">
              <a:buFont typeface="Wingdings"/>
              <a:buChar char="§"/>
            </a:pPr>
            <a:r>
              <a:rPr lang="en-GB" sz="2200" err="1">
                <a:ea typeface="+mn-lt"/>
                <a:cs typeface="+mn-lt"/>
              </a:rPr>
              <a:t>ungewollte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2200" err="1">
                <a:ea typeface="+mn-lt"/>
                <a:cs typeface="+mn-lt"/>
              </a:rPr>
              <a:t>Aktionen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2200" err="1">
                <a:ea typeface="+mn-lt"/>
                <a:cs typeface="+mn-lt"/>
              </a:rPr>
              <a:t>werden</a:t>
            </a:r>
            <a:r>
              <a:rPr lang="en-GB" sz="2200">
                <a:ea typeface="+mn-lt"/>
                <a:cs typeface="+mn-lt"/>
              </a:rPr>
              <a:t> </a:t>
            </a:r>
            <a:r>
              <a:rPr lang="en-GB" sz="2200" err="1">
                <a:ea typeface="+mn-lt"/>
                <a:cs typeface="+mn-lt"/>
              </a:rPr>
              <a:t>verhindert</a:t>
            </a:r>
            <a:endParaRPr lang="en-GB" sz="2200">
              <a:ea typeface="+mn-lt"/>
              <a:cs typeface="+mn-lt"/>
            </a:endParaRPr>
          </a:p>
          <a:p>
            <a:pPr marL="285750" indent="-285750">
              <a:buFont typeface="Wingdings"/>
              <a:buChar char="§"/>
            </a:pPr>
            <a:r>
              <a:rPr lang="en-GB" sz="2200" err="1">
                <a:solidFill>
                  <a:srgbClr val="000000"/>
                </a:solidFill>
                <a:ea typeface="+mn-lt"/>
                <a:cs typeface="+mn-lt"/>
              </a:rPr>
              <a:t>ReAct</a:t>
            </a:r>
            <a:r>
              <a:rPr lang="en-GB" sz="2200">
                <a:solidFill>
                  <a:srgbClr val="000000"/>
                </a:solidFill>
                <a:ea typeface="+mn-lt"/>
                <a:cs typeface="+mn-lt"/>
              </a:rPr>
              <a:t>-Guardrail, Fallbacks und Tracing für </a:t>
            </a:r>
            <a:r>
              <a:rPr lang="en-GB" sz="2200" err="1">
                <a:solidFill>
                  <a:srgbClr val="000000"/>
                </a:solidFill>
                <a:ea typeface="+mn-lt"/>
                <a:cs typeface="+mn-lt"/>
              </a:rPr>
              <a:t>Kontrolle</a:t>
            </a:r>
            <a:r>
              <a:rPr lang="en-GB" sz="2200">
                <a:solidFill>
                  <a:srgbClr val="000000"/>
                </a:solidFill>
                <a:ea typeface="+mn-lt"/>
                <a:cs typeface="+mn-lt"/>
              </a:rPr>
              <a:t> und </a:t>
            </a:r>
            <a:r>
              <a:rPr lang="en-GB" sz="2200" err="1">
                <a:solidFill>
                  <a:srgbClr val="000000"/>
                </a:solidFill>
                <a:ea typeface="+mn-lt"/>
                <a:cs typeface="+mn-lt"/>
              </a:rPr>
              <a:t>Nachvollziehbarkeit</a:t>
            </a:r>
            <a:endParaRPr lang="en-GB" sz="2200" err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485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90DA2EE-11CC-4D6C-9D8D-4E631492A5B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3150" b="1">
                <a:solidFill>
                  <a:srgbClr val="0B0B0B"/>
                </a:solidFill>
              </a:defRPr>
            </a:pPr>
            <a:r>
              <a:rPr lang="en-US" sz="3150" b="1" err="1">
                <a:solidFill>
                  <a:srgbClr val="0B0B0B"/>
                </a:solidFill>
              </a:rPr>
              <a:t>Größte</a:t>
            </a:r>
            <a:r>
              <a:rPr sz="3150" b="1">
                <a:solidFill>
                  <a:srgbClr val="0B0B0B"/>
                </a:solidFill>
              </a:rPr>
              <a:t> </a:t>
            </a:r>
            <a:r>
              <a:rPr sz="3150" b="1" err="1">
                <a:solidFill>
                  <a:srgbClr val="0B0B0B"/>
                </a:solidFill>
              </a:rPr>
              <a:t>Herausforderung</a:t>
            </a:r>
            <a:r>
              <a:rPr sz="3150" b="1">
                <a:solidFill>
                  <a:srgbClr val="0B0B0B"/>
                </a:solidFill>
              </a:rPr>
              <a:t>: Perception</a:t>
            </a:r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FFA25646-2327-4C03-B849-2BE9F3C1B844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214304-E916-4D90-9806-D6D3DA14F874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45454"/>
                </a:solidFill>
              </a:defRPr>
            </a:pPr>
            <a:r>
              <a:rPr sz="1125">
                <a:solidFill>
                  <a:srgbClr val="545454"/>
                </a:solidFill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7629BF-CE7F-42D2-89D3-FED21A1BF296}"/>
              </a:ext>
            </a:extLst>
          </p:cNvPr>
          <p:cNvSpPr>
            <a:spLocks noGrp="1"/>
          </p:cNvSpPr>
          <p:nvPr/>
        </p:nvSpPr>
        <p:spPr>
          <a:xfrm>
            <a:off x="400050" y="1428750"/>
            <a:ext cx="8001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B0B0B"/>
                </a:solidFill>
              </a:defRPr>
            </a:pPr>
            <a:r>
              <a:rPr sz="2700" b="1">
                <a:solidFill>
                  <a:srgbClr val="0B0B0B"/>
                </a:solidFill>
              </a:rPr>
              <a:t>Das System ist nur so gut wie seine erste Interpretation des Lernmaterials.</a:t>
            </a:r>
          </a:p>
        </p:txBody>
      </p:sp>
      <p:sp>
        <p:nvSpPr>
          <p:cNvPr id="5" name="bullet">
            <a:extLst>
              <a:ext uri="{FF2B5EF4-FFF2-40B4-BE49-F238E27FC236}">
                <a16:creationId xmlns:a16="http://schemas.microsoft.com/office/drawing/2014/main" id="{870BC8D5-D5E4-46D3-9D3C-D0934AE0D886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A9D4A1-E79E-4759-8F7A-935C386A2A2F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701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0B0B0B"/>
                </a:solidFill>
              </a:defRPr>
            </a:pPr>
            <a:r>
              <a:rPr sz="1800">
                <a:solidFill>
                  <a:srgbClr val="0B0B0B"/>
                </a:solidFill>
              </a:rPr>
              <a:t>PDFs sind mehrspaltig, formelreich oder schlecht strukturiert</a:t>
            </a:r>
          </a:p>
        </p:txBody>
      </p:sp>
      <p:sp>
        <p:nvSpPr>
          <p:cNvPr id="7" name="bullet">
            <a:extLst>
              <a:ext uri="{FF2B5EF4-FFF2-40B4-BE49-F238E27FC236}">
                <a16:creationId xmlns:a16="http://schemas.microsoft.com/office/drawing/2014/main" id="{5DD6082A-24B1-44CE-915A-F7D3DC92B169}"/>
              </a:ext>
            </a:extLst>
          </p:cNvPr>
          <p:cNvSpPr>
            <a:spLocks noGrp="1"/>
          </p:cNvSpPr>
          <p:nvPr/>
        </p:nvSpPr>
        <p:spPr>
          <a:xfrm>
            <a:off x="666750" y="35433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575DB-BFC7-4899-9D2B-778726B0D287}"/>
              </a:ext>
            </a:extLst>
          </p:cNvPr>
          <p:cNvSpPr>
            <a:spLocks noGrp="1"/>
          </p:cNvSpPr>
          <p:nvPr/>
        </p:nvSpPr>
        <p:spPr>
          <a:xfrm>
            <a:off x="895350" y="3448050"/>
            <a:ext cx="701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>
                <a:solidFill>
                  <a:srgbClr val="0B0B0B"/>
                </a:solidFill>
              </a:defRPr>
            </a:pPr>
            <a:r>
              <a:rPr sz="1800">
                <a:solidFill>
                  <a:srgbClr val="0B0B0B"/>
                </a:solidFill>
              </a:rPr>
              <a:t>LLM Structured Output </a:t>
            </a:r>
            <a:r>
              <a:rPr sz="1800" err="1">
                <a:solidFill>
                  <a:srgbClr val="0B0B0B"/>
                </a:solidFill>
              </a:rPr>
              <a:t>kann</a:t>
            </a:r>
            <a:r>
              <a:rPr sz="1800">
                <a:solidFill>
                  <a:srgbClr val="0B0B0B"/>
                </a:solidFill>
              </a:rPr>
              <a:t> leer, </a:t>
            </a:r>
            <a:r>
              <a:rPr lang="en-US" err="1">
                <a:solidFill>
                  <a:srgbClr val="0B0B0B"/>
                </a:solidFill>
              </a:rPr>
              <a:t>unvollständig</a:t>
            </a:r>
            <a:r>
              <a:rPr sz="1800">
                <a:solidFill>
                  <a:srgbClr val="0B0B0B"/>
                </a:solidFill>
              </a:rPr>
              <a:t> </a:t>
            </a:r>
            <a:r>
              <a:rPr sz="1800" err="1">
                <a:solidFill>
                  <a:srgbClr val="0B0B0B"/>
                </a:solidFill>
              </a:rPr>
              <a:t>oder</a:t>
            </a:r>
            <a:r>
              <a:rPr sz="1800">
                <a:solidFill>
                  <a:srgbClr val="0B0B0B"/>
                </a:solidFill>
              </a:rPr>
              <a:t> </a:t>
            </a:r>
            <a:r>
              <a:rPr sz="1800" err="1">
                <a:solidFill>
                  <a:srgbClr val="0B0B0B"/>
                </a:solidFill>
              </a:rPr>
              <a:t>inkonsistent</a:t>
            </a:r>
            <a:r>
              <a:rPr sz="1800">
                <a:solidFill>
                  <a:srgbClr val="0B0B0B"/>
                </a:solidFill>
              </a:rPr>
              <a:t> sein</a:t>
            </a:r>
          </a:p>
        </p:txBody>
      </p:sp>
      <p:sp>
        <p:nvSpPr>
          <p:cNvPr id="9" name="bullet">
            <a:extLst>
              <a:ext uri="{FF2B5EF4-FFF2-40B4-BE49-F238E27FC236}">
                <a16:creationId xmlns:a16="http://schemas.microsoft.com/office/drawing/2014/main" id="{22FE2296-44A2-4EB9-83B8-5516EACAFB56}"/>
              </a:ext>
            </a:extLst>
          </p:cNvPr>
          <p:cNvSpPr>
            <a:spLocks noGrp="1"/>
          </p:cNvSpPr>
          <p:nvPr/>
        </p:nvSpPr>
        <p:spPr>
          <a:xfrm>
            <a:off x="666750" y="413385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7C4C4B-BF15-4256-9902-1CF09272486A}"/>
              </a:ext>
            </a:extLst>
          </p:cNvPr>
          <p:cNvSpPr>
            <a:spLocks noGrp="1"/>
          </p:cNvSpPr>
          <p:nvPr/>
        </p:nvSpPr>
        <p:spPr>
          <a:xfrm>
            <a:off x="895350" y="4038600"/>
            <a:ext cx="701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>
                <a:solidFill>
                  <a:srgbClr val="0B0B0B"/>
                </a:solidFill>
              </a:defRPr>
            </a:pPr>
            <a:r>
              <a:rPr sz="1800">
                <a:solidFill>
                  <a:srgbClr val="0B0B0B"/>
                </a:solidFill>
              </a:rPr>
              <a:t>Embeddings/RAG </a:t>
            </a:r>
            <a:r>
              <a:rPr sz="1800" err="1">
                <a:solidFill>
                  <a:srgbClr val="0B0B0B"/>
                </a:solidFill>
              </a:rPr>
              <a:t>kosten</a:t>
            </a:r>
            <a:r>
              <a:rPr sz="1800">
                <a:solidFill>
                  <a:srgbClr val="0B0B0B"/>
                </a:solidFill>
              </a:rPr>
              <a:t> Zeit und </a:t>
            </a:r>
            <a:r>
              <a:rPr lang="en-US" err="1">
                <a:solidFill>
                  <a:srgbClr val="0B0B0B"/>
                </a:solidFill>
              </a:rPr>
              <a:t>können</a:t>
            </a:r>
            <a:r>
              <a:rPr sz="1800">
                <a:solidFill>
                  <a:srgbClr val="0B0B0B"/>
                </a:solidFill>
              </a:rPr>
              <a:t> an </a:t>
            </a:r>
            <a:r>
              <a:rPr sz="1800" err="1">
                <a:solidFill>
                  <a:srgbClr val="0B0B0B"/>
                </a:solidFill>
              </a:rPr>
              <a:t>Providergrenzen</a:t>
            </a:r>
            <a:r>
              <a:rPr sz="1800">
                <a:solidFill>
                  <a:srgbClr val="0B0B0B"/>
                </a:solidFill>
              </a:rPr>
              <a:t> </a:t>
            </a:r>
            <a:r>
              <a:rPr sz="1800" err="1">
                <a:solidFill>
                  <a:srgbClr val="0B0B0B"/>
                </a:solidFill>
              </a:rPr>
              <a:t>scheitern</a:t>
            </a:r>
            <a:endParaRPr lang="en-US" sz="1800" err="1">
              <a:solidFill>
                <a:srgbClr val="0B0B0B"/>
              </a:solidFill>
            </a:endParaRPr>
          </a:p>
        </p:txBody>
      </p:sp>
      <p:sp>
        <p:nvSpPr>
          <p:cNvPr id="11" name="bullet">
            <a:extLst>
              <a:ext uri="{FF2B5EF4-FFF2-40B4-BE49-F238E27FC236}">
                <a16:creationId xmlns:a16="http://schemas.microsoft.com/office/drawing/2014/main" id="{30DC3F33-8042-42F8-B884-364E54089A39}"/>
              </a:ext>
            </a:extLst>
          </p:cNvPr>
          <p:cNvSpPr>
            <a:spLocks noGrp="1"/>
          </p:cNvSpPr>
          <p:nvPr/>
        </p:nvSpPr>
        <p:spPr>
          <a:xfrm>
            <a:off x="666750" y="4724400"/>
            <a:ext cx="95250" cy="95250"/>
          </a:xfrm>
          <a:prstGeom prst="rect">
            <a:avLst/>
          </a:prstGeom>
          <a:solidFill>
            <a:srgbClr val="0B0B0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055ACC-570E-4197-92E3-7511E08D951A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70104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>
                <a:solidFill>
                  <a:srgbClr val="0B0B0B"/>
                </a:solidFill>
              </a:defRPr>
            </a:pPr>
            <a:r>
              <a:rPr sz="1800">
                <a:solidFill>
                  <a:srgbClr val="0B0B0B"/>
                </a:solidFill>
              </a:rPr>
              <a:t>Eine falsch extrahierte Aufgabe erzeugt falsches Quiz und falsche Hilfe</a:t>
            </a:r>
          </a:p>
        </p:txBody>
      </p:sp>
    </p:spTree>
    <p:extLst>
      <p:ext uri="{BB962C8B-B14F-4D97-AF65-F5344CB8AC3E}">
        <p14:creationId xmlns:p14="http://schemas.microsoft.com/office/powerpoint/2010/main" val="513302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DA7DE09-5922-4FBF-AE75-201B72432E58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857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3150" b="1">
                <a:solidFill>
                  <a:srgbClr val="0B0B0B"/>
                </a:solidFill>
              </a:defRPr>
            </a:pPr>
            <a:r>
              <a:rPr lang="en-US" sz="3150" b="1">
                <a:solidFill>
                  <a:srgbClr val="0B0B0B"/>
                </a:solidFill>
              </a:rPr>
              <a:t>Unsere Learnings</a:t>
            </a:r>
            <a:endParaRPr lang="en-US"/>
          </a:p>
        </p:txBody>
      </p:sp>
      <p:sp>
        <p:nvSpPr>
          <p:cNvPr id="2" name="title-rule">
            <a:extLst>
              <a:ext uri="{FF2B5EF4-FFF2-40B4-BE49-F238E27FC236}">
                <a16:creationId xmlns:a16="http://schemas.microsoft.com/office/drawing/2014/main" id="{208F023D-8DB3-4305-BAE4-23B235FD5812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13919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71542C-D877-4C74-8A16-75232D07D2FB}"/>
              </a:ext>
            </a:extLst>
          </p:cNvPr>
          <p:cNvSpPr>
            <a:spLocks noGrp="1"/>
          </p:cNvSpPr>
          <p:nvPr/>
        </p:nvSpPr>
        <p:spPr>
          <a:xfrm>
            <a:off x="11277600" y="626745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25">
                <a:solidFill>
                  <a:srgbClr val="545454"/>
                </a:solidFill>
              </a:defRPr>
            </a:pPr>
            <a:r>
              <a:rPr sz="1125">
                <a:solidFill>
                  <a:srgbClr val="545454"/>
                </a:solidFill>
              </a:rPr>
              <a:t>10</a:t>
            </a:r>
          </a:p>
        </p:txBody>
      </p:sp>
      <p:sp>
        <p:nvSpPr>
          <p:cNvPr id="4" name="Was gut funktioniert">
            <a:extLst>
              <a:ext uri="{FF2B5EF4-FFF2-40B4-BE49-F238E27FC236}">
                <a16:creationId xmlns:a16="http://schemas.microsoft.com/office/drawing/2014/main" id="{F72D67CC-623B-4485-BAC7-6CA69C73EFDD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3562350" cy="33909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41E88-1BE6-4FC2-BBCB-BEE0DE8E2CD9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2933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025" b="1">
                <a:solidFill>
                  <a:srgbClr val="0B0B0B"/>
                </a:solidFill>
              </a:defRPr>
            </a:pPr>
            <a:r>
              <a:rPr lang="en-US" sz="2000">
                <a:solidFill>
                  <a:srgbClr val="0B0B0B"/>
                </a:solidFill>
                <a:ea typeface="+mn-lt"/>
                <a:cs typeface="+mn-lt"/>
              </a:rPr>
              <a:t>Agent ≠ Chatbot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11DD5A-773E-4B5C-B78B-5CA33105742B}"/>
              </a:ext>
            </a:extLst>
          </p:cNvPr>
          <p:cNvSpPr>
            <a:spLocks noGrp="1"/>
          </p:cNvSpPr>
          <p:nvPr/>
        </p:nvSpPr>
        <p:spPr>
          <a:xfrm>
            <a:off x="666750" y="3009900"/>
            <a:ext cx="29908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>
                <a:solidFill>
                  <a:srgbClr val="545454"/>
                </a:solidFill>
              </a:defRPr>
            </a:pP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Der Mehrwert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entsteht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durch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die Pipeline: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Dokument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verstehen, Lernziel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ableiten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, Quiz und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Aufgaben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erzeugen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, Feedback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geben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7" name="Was wir anders machen">
            <a:extLst>
              <a:ext uri="{FF2B5EF4-FFF2-40B4-BE49-F238E27FC236}">
                <a16:creationId xmlns:a16="http://schemas.microsoft.com/office/drawing/2014/main" id="{D36372FB-54CD-4A3A-989C-733A67BB1E3C}"/>
              </a:ext>
            </a:extLst>
          </p:cNvPr>
          <p:cNvSpPr>
            <a:spLocks noGrp="1"/>
          </p:cNvSpPr>
          <p:nvPr/>
        </p:nvSpPr>
        <p:spPr>
          <a:xfrm>
            <a:off x="4314825" y="1752600"/>
            <a:ext cx="3562350" cy="33909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10A5A-E99B-442D-8AA5-CCE1F979976D}"/>
              </a:ext>
            </a:extLst>
          </p:cNvPr>
          <p:cNvSpPr>
            <a:spLocks noGrp="1"/>
          </p:cNvSpPr>
          <p:nvPr/>
        </p:nvSpPr>
        <p:spPr>
          <a:xfrm>
            <a:off x="4581525" y="2076450"/>
            <a:ext cx="2933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025" b="1">
                <a:solidFill>
                  <a:srgbClr val="0B0B0B"/>
                </a:solidFill>
              </a:defRPr>
            </a:pPr>
            <a:r>
              <a:rPr lang="en-US" sz="2000">
                <a:solidFill>
                  <a:srgbClr val="0B0B0B"/>
                </a:solidFill>
                <a:ea typeface="+mn-lt"/>
                <a:cs typeface="+mn-lt"/>
              </a:rPr>
              <a:t>Perception </a:t>
            </a:r>
            <a:r>
              <a:rPr lang="en-US" sz="2000" err="1">
                <a:solidFill>
                  <a:srgbClr val="0B0B0B"/>
                </a:solidFill>
                <a:ea typeface="+mn-lt"/>
                <a:cs typeface="+mn-lt"/>
              </a:rPr>
              <a:t>ist</a:t>
            </a:r>
            <a:r>
              <a:rPr lang="en-US" sz="2000">
                <a:solidFill>
                  <a:srgbClr val="0B0B0B"/>
                </a:solidFill>
                <a:ea typeface="+mn-lt"/>
                <a:cs typeface="+mn-lt"/>
              </a:rPr>
              <a:t> der </a:t>
            </a:r>
            <a:r>
              <a:rPr lang="en-US" sz="2000" err="1">
                <a:solidFill>
                  <a:srgbClr val="0B0B0B"/>
                </a:solidFill>
                <a:ea typeface="+mn-lt"/>
                <a:cs typeface="+mn-lt"/>
              </a:rPr>
              <a:t>Engpass</a:t>
            </a:r>
            <a:endParaRPr lang="en-US" err="1"/>
          </a:p>
          <a:p>
            <a:pPr>
              <a:defRPr sz="2025" b="1">
                <a:solidFill>
                  <a:srgbClr val="0B0B0B"/>
                </a:solidFill>
              </a:defRPr>
            </a:pPr>
            <a:endParaRPr sz="2000" b="1">
              <a:solidFill>
                <a:srgbClr val="0B0B0B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EA2788-FEB9-4A82-A707-2BD6BFCE9A5A}"/>
              </a:ext>
            </a:extLst>
          </p:cNvPr>
          <p:cNvSpPr>
            <a:spLocks noGrp="1"/>
          </p:cNvSpPr>
          <p:nvPr/>
        </p:nvSpPr>
        <p:spPr>
          <a:xfrm>
            <a:off x="4581525" y="3009900"/>
            <a:ext cx="29908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>
                <a:solidFill>
                  <a:srgbClr val="545454"/>
                </a:solidFill>
              </a:defRPr>
            </a:pP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Wenn der Upload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falsch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interpretiert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wird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,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werden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Quiz,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Cheatsheet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und Tutor-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Hilfe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automatisch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schwächer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.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Deshalb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braucht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es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Vorschau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und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Korrektur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0" name="Naechster Schritt">
            <a:extLst>
              <a:ext uri="{FF2B5EF4-FFF2-40B4-BE49-F238E27FC236}">
                <a16:creationId xmlns:a16="http://schemas.microsoft.com/office/drawing/2014/main" id="{380271C1-B38C-4EE1-8410-F50DF2BACD69}"/>
              </a:ext>
            </a:extLst>
          </p:cNvPr>
          <p:cNvSpPr>
            <a:spLocks noGrp="1"/>
          </p:cNvSpPr>
          <p:nvPr/>
        </p:nvSpPr>
        <p:spPr>
          <a:xfrm>
            <a:off x="8229600" y="1752600"/>
            <a:ext cx="3562350" cy="33909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A8201E-E91E-44D7-84BF-3C728F83669D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9337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2025" b="1">
                <a:solidFill>
                  <a:srgbClr val="0B0B0B"/>
                </a:solidFill>
              </a:defRPr>
            </a:pPr>
            <a:r>
              <a:rPr lang="en-US" sz="2000" b="1">
                <a:solidFill>
                  <a:srgbClr val="0B0B0B"/>
                </a:solidFill>
                <a:ea typeface="+mn-lt"/>
                <a:cs typeface="+mn-lt"/>
              </a:rPr>
              <a:t>Safety muss </a:t>
            </a:r>
            <a:r>
              <a:rPr lang="en-US" sz="2000" b="1" err="1">
                <a:solidFill>
                  <a:srgbClr val="0B0B0B"/>
                </a:solidFill>
                <a:ea typeface="+mn-lt"/>
                <a:cs typeface="+mn-lt"/>
              </a:rPr>
              <a:t>früh</a:t>
            </a:r>
            <a:r>
              <a:rPr lang="en-US" sz="2000" b="1">
                <a:solidFill>
                  <a:srgbClr val="0B0B0B"/>
                </a:solidFill>
                <a:ea typeface="+mn-lt"/>
                <a:cs typeface="+mn-lt"/>
              </a:rPr>
              <a:t> rein</a:t>
            </a:r>
            <a:endParaRPr lang="en-US"/>
          </a:p>
          <a:p>
            <a:pPr>
              <a:defRPr sz="2025" b="1">
                <a:solidFill>
                  <a:srgbClr val="0B0B0B"/>
                </a:solidFill>
              </a:defRPr>
            </a:pPr>
            <a:endParaRPr sz="2000" b="1">
              <a:solidFill>
                <a:srgbClr val="0B0B0B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5E1DB5-42D4-42DA-A437-23745B87D55E}"/>
              </a:ext>
            </a:extLst>
          </p:cNvPr>
          <p:cNvSpPr>
            <a:spLocks noGrp="1"/>
          </p:cNvSpPr>
          <p:nvPr/>
        </p:nvSpPr>
        <p:spPr>
          <a:xfrm>
            <a:off x="8496300" y="3009900"/>
            <a:ext cx="29908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500">
                <a:solidFill>
                  <a:srgbClr val="545454"/>
                </a:solidFill>
              </a:defRPr>
            </a:pP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Der Agent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soll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beim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Lernen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unterstützen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, nicht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Aufgaben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ungeprüft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lösen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.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Dafür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braucht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er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klare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Regeln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für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Antworten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,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Zugriff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auf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Nutzerdaten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und den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Umgang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mit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unsicheren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 KI-</a:t>
            </a:r>
            <a:r>
              <a:rPr lang="en-US" sz="1500" err="1">
                <a:solidFill>
                  <a:srgbClr val="545454"/>
                </a:solidFill>
                <a:ea typeface="+mn-lt"/>
                <a:cs typeface="+mn-lt"/>
              </a:rPr>
              <a:t>Ausgaben</a:t>
            </a:r>
            <a:r>
              <a:rPr lang="en-US" sz="1500">
                <a:solidFill>
                  <a:srgbClr val="545454"/>
                </a:solidFill>
                <a:ea typeface="+mn-lt"/>
                <a:cs typeface="+mn-lt"/>
              </a:rPr>
              <a:t>.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29BC48-97A1-4AF5-9C8D-08C4E792928B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1440" tIns="45720" rIns="91440" bIns="45720" anchor="t"/>
          <a:lstStyle/>
          <a:p>
            <a:pPr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Fazit: Der </a:t>
            </a:r>
            <a:r>
              <a:rPr lang="en-US" b="1" err="1">
                <a:solidFill>
                  <a:srgbClr val="0B0B0B"/>
                </a:solidFill>
              </a:rPr>
              <a:t>jetzige</a:t>
            </a:r>
            <a:r>
              <a:rPr lang="en-US" b="1">
                <a:solidFill>
                  <a:srgbClr val="0B0B0B"/>
                </a:solidFill>
              </a:rPr>
              <a:t> Stand </a:t>
            </a:r>
            <a:r>
              <a:rPr sz="1800" b="1" err="1">
                <a:solidFill>
                  <a:srgbClr val="0B0B0B"/>
                </a:solidFill>
              </a:rPr>
              <a:t>zeigt</a:t>
            </a:r>
            <a:r>
              <a:rPr sz="1800" b="1">
                <a:solidFill>
                  <a:srgbClr val="0B0B0B"/>
                </a:solidFill>
              </a:rPr>
              <a:t> </a:t>
            </a:r>
            <a:r>
              <a:rPr sz="1800" b="1" err="1">
                <a:solidFill>
                  <a:srgbClr val="0B0B0B"/>
                </a:solidFill>
              </a:rPr>
              <a:t>einen</a:t>
            </a:r>
            <a:r>
              <a:rPr sz="1800" b="1">
                <a:solidFill>
                  <a:srgbClr val="0B0B0B"/>
                </a:solidFill>
              </a:rPr>
              <a:t> </a:t>
            </a:r>
            <a:r>
              <a:rPr sz="1800" b="1" err="1">
                <a:solidFill>
                  <a:srgbClr val="0B0B0B"/>
                </a:solidFill>
              </a:rPr>
              <a:t>lernorientierten</a:t>
            </a:r>
            <a:r>
              <a:rPr sz="1800" b="1">
                <a:solidFill>
                  <a:srgbClr val="0B0B0B"/>
                </a:solidFill>
              </a:rPr>
              <a:t> </a:t>
            </a:r>
            <a:r>
              <a:rPr sz="1800" b="1" err="1">
                <a:solidFill>
                  <a:srgbClr val="0B0B0B"/>
                </a:solidFill>
              </a:rPr>
              <a:t>Agenten</a:t>
            </a:r>
            <a:r>
              <a:rPr sz="1800" b="1">
                <a:solidFill>
                  <a:srgbClr val="0B0B0B"/>
                </a:solidFill>
              </a:rPr>
              <a:t>, </a:t>
            </a:r>
            <a:r>
              <a:rPr sz="1800" b="1" err="1">
                <a:solidFill>
                  <a:srgbClr val="0B0B0B"/>
                </a:solidFill>
              </a:rPr>
              <a:t>aber</a:t>
            </a:r>
            <a:r>
              <a:rPr sz="1800" b="1">
                <a:solidFill>
                  <a:srgbClr val="0B0B0B"/>
                </a:solidFill>
              </a:rPr>
              <a:t> die </a:t>
            </a:r>
            <a:r>
              <a:rPr lang="en-US" b="1" err="1">
                <a:solidFill>
                  <a:srgbClr val="0B0B0B"/>
                </a:solidFill>
              </a:rPr>
              <a:t>nächste</a:t>
            </a:r>
            <a:r>
              <a:rPr sz="1800" b="1">
                <a:solidFill>
                  <a:srgbClr val="0B0B0B"/>
                </a:solidFill>
              </a:rPr>
              <a:t> </a:t>
            </a:r>
            <a:r>
              <a:rPr lang="en-US" b="1" err="1">
                <a:solidFill>
                  <a:srgbClr val="0B0B0B"/>
                </a:solidFill>
              </a:rPr>
              <a:t>Qualitätsstufe</a:t>
            </a:r>
            <a:r>
              <a:rPr sz="1800" b="1">
                <a:solidFill>
                  <a:srgbClr val="0B0B0B"/>
                </a:solidFill>
              </a:rPr>
              <a:t> </a:t>
            </a:r>
            <a:r>
              <a:rPr sz="1800" b="1" err="1">
                <a:solidFill>
                  <a:srgbClr val="0B0B0B"/>
                </a:solidFill>
              </a:rPr>
              <a:t>liegt</a:t>
            </a:r>
            <a:r>
              <a:rPr sz="1800" b="1">
                <a:solidFill>
                  <a:srgbClr val="0B0B0B"/>
                </a:solidFill>
              </a:rPr>
              <a:t> in </a:t>
            </a:r>
            <a:r>
              <a:rPr sz="1800" b="1" err="1">
                <a:solidFill>
                  <a:srgbClr val="0B0B0B"/>
                </a:solidFill>
              </a:rPr>
              <a:t>validierter</a:t>
            </a:r>
            <a:r>
              <a:rPr sz="1800" b="1">
                <a:solidFill>
                  <a:srgbClr val="0B0B0B"/>
                </a:solidFill>
              </a:rPr>
              <a:t> </a:t>
            </a:r>
            <a:r>
              <a:rPr sz="1800" b="1" err="1">
                <a:solidFill>
                  <a:srgbClr val="0B0B0B"/>
                </a:solidFill>
              </a:rPr>
              <a:t>Wahrnehmung</a:t>
            </a:r>
            <a:r>
              <a:rPr sz="1800" b="1">
                <a:solidFill>
                  <a:srgbClr val="0B0B0B"/>
                </a:solidFill>
              </a:rPr>
              <a:t> und </a:t>
            </a:r>
            <a:r>
              <a:rPr lang="en-US" b="1" err="1">
                <a:solidFill>
                  <a:srgbClr val="0B0B0B"/>
                </a:solidFill>
              </a:rPr>
              <a:t>stärkeren</a:t>
            </a:r>
            <a:r>
              <a:rPr sz="1800" b="1">
                <a:solidFill>
                  <a:srgbClr val="0B0B0B"/>
                </a:solidFill>
              </a:rPr>
              <a:t> Guardrails.</a:t>
            </a:r>
            <a:r>
              <a:rPr lang="en-US" b="1">
                <a:solidFill>
                  <a:srgbClr val="0B0B0B"/>
                </a:solidFill>
              </a:rPr>
              <a:t> </a:t>
            </a:r>
            <a:endParaRPr sz="1800" b="1">
              <a:solidFill>
                <a:srgbClr val="0B0B0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91141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908292DCC378A409E4945C198F2D71D" ma:contentTypeVersion="3" ma:contentTypeDescription="Ein neues Dokument erstellen." ma:contentTypeScope="" ma:versionID="47a4e660b2123a89b90ebb26e27ba9f0">
  <xsd:schema xmlns:xsd="http://www.w3.org/2001/XMLSchema" xmlns:xs="http://www.w3.org/2001/XMLSchema" xmlns:p="http://schemas.microsoft.com/office/2006/metadata/properties" xmlns:ns2="bbbba6a6-08e5-493f-a314-e13f259c9b86" targetNamespace="http://schemas.microsoft.com/office/2006/metadata/properties" ma:root="true" ma:fieldsID="57ac94b1c1b856edef47b50eeaccd6a0" ns2:_="">
    <xsd:import namespace="bbbba6a6-08e5-493f-a314-e13f259c9b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ba6a6-08e5-493f-a314-e13f259c9b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15E5D2-A126-4DAB-9E52-66F6B183CB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3B7B9E1-9ABE-490B-AD06-071AF93C07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321C98E-0AE3-46C4-8AE5-CC3767FC5042}">
  <ds:schemaRefs>
    <ds:schemaRef ds:uri="bbbba6a6-08e5-493f-a314-e13f259c9b8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revision>17</cp:revision>
  <dcterms:created xsi:type="dcterms:W3CDTF">2026-06-30T12:55:19Z</dcterms:created>
  <dcterms:modified xsi:type="dcterms:W3CDTF">2026-07-07T11:13:23Z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0x010100D908292DCC378A409E4945C198F2D71D</vt:lpwstr>
  </property>
</Properties>
</file>